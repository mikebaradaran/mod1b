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63" r:id="rId5"/>
    <p:sldId id="491" r:id="rId6"/>
    <p:sldId id="493" r:id="rId7"/>
    <p:sldId id="536" r:id="rId8"/>
    <p:sldId id="538" r:id="rId9"/>
    <p:sldId id="543" r:id="rId10"/>
    <p:sldId id="539" r:id="rId11"/>
    <p:sldId id="542" r:id="rId12"/>
    <p:sldId id="540" r:id="rId13"/>
    <p:sldId id="537" r:id="rId14"/>
    <p:sldId id="544" r:id="rId15"/>
    <p:sldId id="541" r:id="rId16"/>
    <p:sldId id="494" r:id="rId17"/>
    <p:sldId id="535" r:id="rId18"/>
  </p:sldIdLst>
  <p:sldSz cx="12192000" cy="6858000"/>
  <p:notesSz cx="6645275" cy="9775825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7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row, Joshua" initials="BJ" lastIdx="30" clrIdx="0">
    <p:extLst>
      <p:ext uri="{19B8F6BF-5375-455C-9EA6-DF929625EA0E}">
        <p15:presenceInfo xmlns:p15="http://schemas.microsoft.com/office/powerpoint/2012/main" userId="S-1-5-21-3476036342-1731177862-1559577602-51474" providerId="AD"/>
      </p:ext>
    </p:extLst>
  </p:cmAuthor>
  <p:cmAuthor id="2" name="Singh, Vaishali" initials="SV" lastIdx="7" clrIdx="1">
    <p:extLst>
      <p:ext uri="{19B8F6BF-5375-455C-9EA6-DF929625EA0E}">
        <p15:presenceInfo xmlns:p15="http://schemas.microsoft.com/office/powerpoint/2012/main" userId="S-1-5-21-3476036342-1731177862-1559577602-155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1258"/>
    <a:srgbClr val="7E007C"/>
    <a:srgbClr val="09EDB8"/>
    <a:srgbClr val="004050"/>
    <a:srgbClr val="28CFF9"/>
    <a:srgbClr val="F3622C"/>
    <a:srgbClr val="31D3AE"/>
    <a:srgbClr val="F3F3F3"/>
    <a:srgbClr val="F4F4F4"/>
    <a:srgbClr val="3D6E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8" autoAdjust="0"/>
    <p:restoredTop sz="87661" autoAdjust="0"/>
  </p:normalViewPr>
  <p:slideViewPr>
    <p:cSldViewPr snapToGrid="0" snapToObjects="1" showGuides="1">
      <p:cViewPr varScale="1">
        <p:scale>
          <a:sx n="60" d="100"/>
          <a:sy n="60" d="100"/>
        </p:scale>
        <p:origin x="1771" y="274"/>
      </p:cViewPr>
      <p:guideLst>
        <p:guide pos="3840"/>
        <p:guide orient="horz" pos="37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82" d="100"/>
          <a:sy n="82" d="100"/>
        </p:scale>
        <p:origin x="40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964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088FE-3E68-47FE-8BA4-634CD34BABBC}" type="datetimeFigureOut">
              <a:rPr lang="en-GB" smtClean="0"/>
              <a:pPr/>
              <a:t>15/06/2025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964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31C5D-0DE0-4486-9782-41885BE581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0825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19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1D6B66C6-1E92-0F4E-A300-9D4ED1F0C23F}" type="datetimeFigureOut">
              <a:rPr lang="en-GB" smtClean="0"/>
              <a:pPr/>
              <a:t>15/06/2025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0788"/>
            <a:ext cx="5867400" cy="3300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7"/>
            <a:ext cx="5316220" cy="38492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19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548901C6-1DA1-FB44-ABEE-06A0FEB773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6747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6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7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AA5024-7929-4056-8E94-172B36B7A5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531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320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0671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0908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43273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09209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00312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3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273050" algn="l"/>
                <a:tab pos="544513" algn="l"/>
                <a:tab pos="796925" algn="l"/>
                <a:tab pos="1069975" algn="l"/>
                <a:tab pos="1343025" algn="l"/>
                <a:tab pos="1614488" algn="l"/>
                <a:tab pos="1887538" algn="l"/>
                <a:tab pos="2159000" algn="l"/>
                <a:tab pos="2413000" algn="l"/>
                <a:tab pos="2684463" algn="l"/>
              </a:tabLst>
              <a:defRPr/>
            </a:pPr>
            <a:r>
              <a:rPr lang="en-GB" dirty="0"/>
              <a:t>JavaScript is a class-less language but it can define </a:t>
            </a:r>
            <a:br>
              <a:rPr lang="en-GB" dirty="0"/>
            </a:br>
            <a:r>
              <a:rPr lang="en-GB" dirty="0"/>
              <a:t>prototype-based classes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66AAD-4822-4D35-BB45-065DFB66B6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33837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77685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View the slide and notice:</a:t>
            </a:r>
          </a:p>
          <a:p>
            <a:pPr lvl="1"/>
            <a:r>
              <a:rPr lang="en-GB" dirty="0"/>
              <a:t>How easy it is to nest one object inside another</a:t>
            </a:r>
          </a:p>
          <a:p>
            <a:pPr lvl="1"/>
            <a:r>
              <a:rPr lang="en-GB" dirty="0"/>
              <a:t>How easy it is to use arrays and objects together</a:t>
            </a:r>
          </a:p>
          <a:p>
            <a:pPr lvl="1"/>
            <a:r>
              <a:rPr lang="en-GB" dirty="0"/>
              <a:t>It is human-readable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69C43-4E8F-4FF0-A691-CFB225A612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66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85440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50911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58543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2768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/what's next">
    <p:bg>
      <p:bgPr>
        <a:solidFill>
          <a:srgbClr val="EDC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35880" y="0"/>
            <a:ext cx="705612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12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llow us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5020" y="0"/>
            <a:ext cx="631698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86434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on Tips">
    <p:bg>
      <p:bgPr>
        <a:solidFill>
          <a:srgbClr val="EB6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54240" y="0"/>
            <a:ext cx="493776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1988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44640" y="15240"/>
            <a:ext cx="5547360" cy="684276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656105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usekeep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433680"/>
            <a:ext cx="5627171" cy="968987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4784" y="4894524"/>
            <a:ext cx="5627171" cy="1186921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427687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et &amp; Greet 1">
    <p:bg>
      <p:bgPr>
        <a:solidFill>
          <a:srgbClr val="38E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8881" y="-11575"/>
            <a:ext cx="8079261" cy="68753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002556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Meet &amp; Greet</a:t>
            </a:r>
            <a:endParaRPr lang="en-GB" noProof="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278655" cy="34015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4045959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3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27" name="Group 26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  <a:solidFill>
            <a:srgbClr val="004050"/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2229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00292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4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 sz="2000"/>
            </a:lvl4pPr>
            <a:lvl5pPr marL="180000" indent="-1800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9EDB8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</p:spTree>
    <p:extLst>
      <p:ext uri="{BB962C8B-B14F-4D97-AF65-F5344CB8AC3E}">
        <p14:creationId xmlns:p14="http://schemas.microsoft.com/office/powerpoint/2010/main" val="3589945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09EDB8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70358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00EDB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1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1">
    <p:bg>
      <p:bgPr>
        <a:solidFill>
          <a:srgbClr val="0EE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887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01 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609" y="0"/>
            <a:ext cx="12192609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rgbClr val="004050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779800"/>
            <a:ext cx="5627171" cy="1682133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05" y="399619"/>
            <a:ext cx="857393" cy="522401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144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08688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87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28CFF9"/>
          </a:solidFill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22106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FF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725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ctivity 1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28947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03 Section Divider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760859" y="768561"/>
            <a:ext cx="379608" cy="11049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35614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98918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16148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F1612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865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ctivity 1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37711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2 Section Divider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A0DD6AED-2202-DD48-A2D6-60CCC5F07320}"/>
              </a:ext>
            </a:extLst>
          </p:cNvPr>
          <p:cNvSpPr/>
          <p:nvPr userDrawn="1"/>
        </p:nvSpPr>
        <p:spPr>
          <a:xfrm>
            <a:off x="-609" y="2116538"/>
            <a:ext cx="11411496" cy="5526322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F9125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067007"/>
            <a:ext cx="5627171" cy="2353439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96745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33" name="Group 32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  <a:solidFill>
            <a:srgbClr val="F91258"/>
          </a:solidFill>
        </p:grpSpPr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45788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7E007C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596148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7E007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64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ctivity 1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3175680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2588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39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544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059427" y="3673998"/>
            <a:ext cx="212415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0" indent="0">
              <a:buFont typeface="Arial" panose="020B0604020202020204" pitchFamily="34" charset="0"/>
              <a:buNone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639645" y="3673998"/>
            <a:ext cx="2068065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149996" y="3673998"/>
            <a:ext cx="2130523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21"/>
          <p:cNvSpPr>
            <a:spLocks noGrp="1"/>
          </p:cNvSpPr>
          <p:nvPr>
            <p:ph type="pic" sz="quarter" idx="18" hasCustomPrompt="1"/>
          </p:nvPr>
        </p:nvSpPr>
        <p:spPr>
          <a:xfrm>
            <a:off x="1059428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8" name="Picture Placeholder 21"/>
          <p:cNvSpPr>
            <a:spLocks noGrp="1"/>
          </p:cNvSpPr>
          <p:nvPr>
            <p:ph type="pic" sz="quarter" idx="19" hasCustomPrompt="1"/>
          </p:nvPr>
        </p:nvSpPr>
        <p:spPr>
          <a:xfrm>
            <a:off x="3639646" y="1986408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20" hasCustomPrompt="1"/>
          </p:nvPr>
        </p:nvSpPr>
        <p:spPr>
          <a:xfrm>
            <a:off x="6149997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637070" y="3688989"/>
            <a:ext cx="218344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1" name="Picture Placeholder 21"/>
          <p:cNvSpPr>
            <a:spLocks noGrp="1"/>
          </p:cNvSpPr>
          <p:nvPr>
            <p:ph type="pic" sz="quarter" idx="22" hasCustomPrompt="1"/>
          </p:nvPr>
        </p:nvSpPr>
        <p:spPr>
          <a:xfrm>
            <a:off x="8637071" y="2008475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8968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065907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511826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957745" y="1986353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8403664" y="1986352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195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15467" y="1992793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069809" y="1992792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6117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1080209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 sz="1800"/>
            </a:lvl2pPr>
            <a:lvl3pPr marL="0" indent="0">
              <a:buNone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0209" y="2003204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914" y="2003203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25868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2594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91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ope you enjoyed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3440" y="0"/>
            <a:ext cx="75285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2311970"/>
            <a:ext cx="3138017" cy="1908338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/>
            </a:lvl1pPr>
          </a:lstStyle>
          <a:p>
            <a:r>
              <a:rPr lang="en-US" noProof="0" dirty="0"/>
              <a:t>THANK YOU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1" y="5306004"/>
            <a:ext cx="4269826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 baseline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Hope you enjoyed this learning journey.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698" y="3508800"/>
            <a:ext cx="7016130" cy="2425241"/>
            <a:chOff x="683" y="3508800"/>
            <a:chExt cx="7016130" cy="2425241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683" y="3508800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 userDrawn="1"/>
          </p:nvSpPr>
          <p:spPr>
            <a:xfrm>
              <a:off x="5439970" y="3509181"/>
              <a:ext cx="1576843" cy="2417447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683" y="4907035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87849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A Template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466" y="2130432"/>
            <a:ext cx="11049077" cy="1470025"/>
          </a:xfrm>
        </p:spPr>
        <p:txBody>
          <a:bodyPr>
            <a:normAutofit/>
          </a:bodyPr>
          <a:lstStyle>
            <a:lvl1pPr algn="ctr">
              <a:defRPr sz="3600"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rgbClr val="AAAAAA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8" name="Picture 7" descr="NewSwoop_Footer.jpg"/>
          <p:cNvPicPr>
            <a:picLocks noChangeAspect="1"/>
          </p:cNvPicPr>
          <p:nvPr userDrawn="1"/>
        </p:nvPicPr>
        <p:blipFill>
          <a:blip r:embed="rId2" cstate="print"/>
          <a:srcRect b="6922"/>
          <a:stretch>
            <a:fillRect/>
          </a:stretch>
        </p:blipFill>
        <p:spPr>
          <a:xfrm>
            <a:off x="0" y="5015952"/>
            <a:ext cx="12192000" cy="177596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917" y="785794"/>
            <a:ext cx="956780" cy="69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4471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A Template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190463" y="928670"/>
            <a:ext cx="11715792" cy="5214974"/>
          </a:xfrm>
        </p:spPr>
        <p:txBody>
          <a:bodyPr/>
          <a:lstStyle>
            <a:lvl1pPr>
              <a:spcBef>
                <a:spcPts val="1200"/>
              </a:spcBef>
              <a:defRPr b="1"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0459" y="357166"/>
            <a:ext cx="11715832" cy="500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GB" sz="2400" b="1" kern="1200" baseline="0" dirty="0" smtClean="0">
                <a:solidFill>
                  <a:srgbClr val="0070C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3428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4" y="6584738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46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798" r:id="rId4"/>
    <p:sldLayoutId id="2147483806" r:id="rId5"/>
    <p:sldLayoutId id="2147483709" r:id="rId6"/>
    <p:sldLayoutId id="2147483822" r:id="rId7"/>
    <p:sldLayoutId id="2147483802" r:id="rId8"/>
    <p:sldLayoutId id="2147483792" r:id="rId9"/>
    <p:sldLayoutId id="2147483810" r:id="rId10"/>
    <p:sldLayoutId id="2147483804" r:id="rId11"/>
    <p:sldLayoutId id="2147483821" r:id="rId12"/>
    <p:sldLayoutId id="2147483824" r:id="rId13"/>
    <p:sldLayoutId id="2147483828" r:id="rId14"/>
    <p:sldLayoutId id="2147483853" r:id="rId15"/>
    <p:sldLayoutId id="2147483899" r:id="rId16"/>
    <p:sldLayoutId id="2147483832" r:id="rId17"/>
    <p:sldLayoutId id="2147483833" r:id="rId18"/>
    <p:sldLayoutId id="2147483836" r:id="rId19"/>
    <p:sldLayoutId id="2147483852" r:id="rId20"/>
    <p:sldLayoutId id="2147483900" r:id="rId21"/>
    <p:sldLayoutId id="2147483820" r:id="rId22"/>
    <p:sldLayoutId id="2147483842" r:id="rId23"/>
    <p:sldLayoutId id="2147483845" r:id="rId24"/>
    <p:sldLayoutId id="2147483851" r:id="rId25"/>
    <p:sldLayoutId id="2147483901" r:id="rId26"/>
    <p:sldLayoutId id="2147483650" r:id="rId27"/>
    <p:sldLayoutId id="2147483734" r:id="rId28"/>
    <p:sldLayoutId id="2147483796" r:id="rId29"/>
    <p:sldLayoutId id="2147483719" r:id="rId30"/>
    <p:sldLayoutId id="2147483721" r:id="rId31"/>
    <p:sldLayoutId id="2147483724" r:id="rId32"/>
    <p:sldLayoutId id="2147483797" r:id="rId33"/>
    <p:sldLayoutId id="2147483814" r:id="rId34"/>
    <p:sldLayoutId id="2147483902" r:id="rId35"/>
    <p:sldLayoutId id="2147483903" r:id="rId36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Krana Fat B" panose="00000B00000000000000" pitchFamily="50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15000"/>
        <a:buFontTx/>
        <a:buNone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8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8"/>
        </a:buBlip>
        <a:tabLst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8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8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 userDrawn="1">
          <p15:clr>
            <a:srgbClr val="F26B43"/>
          </p15:clr>
        </p15:guide>
        <p15:guide id="2" orient="horz" pos="4081" userDrawn="1">
          <p15:clr>
            <a:srgbClr val="F26B43"/>
          </p15:clr>
        </p15:guide>
        <p15:guide id="3" pos="237" userDrawn="1">
          <p15:clr>
            <a:srgbClr val="F26B43"/>
          </p15:clr>
        </p15:guide>
        <p15:guide id="4" pos="732" userDrawn="1">
          <p15:clr>
            <a:srgbClr val="F26B43"/>
          </p15:clr>
        </p15:guide>
        <p15:guide id="5" pos="850" userDrawn="1">
          <p15:clr>
            <a:srgbClr val="F26B43"/>
          </p15:clr>
        </p15:guide>
        <p15:guide id="6" pos="1345" userDrawn="1">
          <p15:clr>
            <a:srgbClr val="F26B43"/>
          </p15:clr>
        </p15:guide>
        <p15:guide id="7" pos="1460" userDrawn="1">
          <p15:clr>
            <a:srgbClr val="F26B43"/>
          </p15:clr>
        </p15:guide>
        <p15:guide id="8" pos="1954" userDrawn="1">
          <p15:clr>
            <a:srgbClr val="F26B43"/>
          </p15:clr>
        </p15:guide>
        <p15:guide id="9" pos="2069" userDrawn="1">
          <p15:clr>
            <a:srgbClr val="F26B43"/>
          </p15:clr>
        </p15:guide>
        <p15:guide id="10" pos="2564" userDrawn="1">
          <p15:clr>
            <a:srgbClr val="F26B43"/>
          </p15:clr>
        </p15:guide>
        <p15:guide id="11" pos="2683" userDrawn="1">
          <p15:clr>
            <a:srgbClr val="F26B43"/>
          </p15:clr>
        </p15:guide>
        <p15:guide id="12" pos="3173" userDrawn="1">
          <p15:clr>
            <a:srgbClr val="F26B43"/>
          </p15:clr>
        </p15:guide>
        <p15:guide id="13" pos="3288" userDrawn="1">
          <p15:clr>
            <a:srgbClr val="F26B43"/>
          </p15:clr>
        </p15:guide>
        <p15:guide id="14" pos="3782" userDrawn="1">
          <p15:clr>
            <a:srgbClr val="F26B43"/>
          </p15:clr>
        </p15:guide>
        <p15:guide id="15" pos="3897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06" userDrawn="1">
          <p15:clr>
            <a:srgbClr val="F26B43"/>
          </p15:clr>
        </p15:guide>
        <p15:guide id="18" pos="5001" userDrawn="1">
          <p15:clr>
            <a:srgbClr val="F26B43"/>
          </p15:clr>
        </p15:guide>
        <p15:guide id="19" pos="5115" userDrawn="1">
          <p15:clr>
            <a:srgbClr val="F26B43"/>
          </p15:clr>
        </p15:guide>
        <p15:guide id="20" pos="5610" userDrawn="1">
          <p15:clr>
            <a:srgbClr val="F26B43"/>
          </p15:clr>
        </p15:guide>
        <p15:guide id="21" pos="5725" userDrawn="1">
          <p15:clr>
            <a:srgbClr val="F26B43"/>
          </p15:clr>
        </p15:guide>
        <p15:guide id="22" pos="6220" userDrawn="1">
          <p15:clr>
            <a:srgbClr val="F26B43"/>
          </p15:clr>
        </p15:guide>
        <p15:guide id="23" pos="6334" userDrawn="1">
          <p15:clr>
            <a:srgbClr val="F26B43"/>
          </p15:clr>
        </p15:guide>
        <p15:guide id="24" pos="6829" userDrawn="1">
          <p15:clr>
            <a:srgbClr val="F26B43"/>
          </p15:clr>
        </p15:guide>
        <p15:guide id="25" pos="6943" userDrawn="1">
          <p15:clr>
            <a:srgbClr val="F26B43"/>
          </p15:clr>
        </p15:guide>
        <p15:guide id="26" pos="7438" userDrawn="1">
          <p15:clr>
            <a:srgbClr val="F26B43"/>
          </p15:clr>
        </p15:guide>
        <p15:guide id="27" pos="3840" userDrawn="1">
          <p15:clr>
            <a:srgbClr val="9FCC3B"/>
          </p15:clr>
        </p15:guide>
        <p15:guide id="28" orient="horz" pos="21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json.org/example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6238" y="2067007"/>
            <a:ext cx="6024562" cy="2353439"/>
          </a:xfrm>
        </p:spPr>
        <p:txBody>
          <a:bodyPr>
            <a:normAutofit fontScale="90000"/>
          </a:bodyPr>
          <a:lstStyle/>
          <a:p>
            <a:br>
              <a:rPr lang="en-GB" dirty="0"/>
            </a:br>
            <a:br>
              <a:rPr lang="en-GB" dirty="0"/>
            </a:br>
            <a:r>
              <a:rPr lang="en-GB" dirty="0"/>
              <a:t>Web Development</a:t>
            </a:r>
            <a:br>
              <a:rPr lang="en-GB" dirty="0"/>
            </a:br>
            <a:r>
              <a:rPr lang="en-GB" dirty="0"/>
              <a:t>JavaScript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Objects and JSON  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621FA40-AB49-43AD-8B4B-4F0D69968C2E}"/>
              </a:ext>
            </a:extLst>
          </p:cNvPr>
          <p:cNvSpPr txBox="1">
            <a:spLocks/>
          </p:cNvSpPr>
          <p:nvPr/>
        </p:nvSpPr>
        <p:spPr>
          <a:xfrm>
            <a:off x="376239" y="5608948"/>
            <a:ext cx="6480175" cy="44273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15000"/>
              <a:buFontTx/>
              <a:buNone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3"/>
              </a:buBlip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3"/>
              </a:buBlip>
              <a:tabLst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3"/>
              </a:buBlip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3"/>
              </a:buBlip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465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99F027-5CFF-4864-8579-4B8F7161E2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Objectives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F0D0BA9-3349-41D8-B07D-492F58BDA04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b="1" dirty="0"/>
              <a:t>In this chapter you'll learn :</a:t>
            </a:r>
          </a:p>
          <a:p>
            <a:pPr marL="342900" lvl="1" indent="-342900">
              <a:buSzPct val="115000"/>
            </a:pPr>
            <a:r>
              <a:rPr lang="en-GB" dirty="0"/>
              <a:t>How to create objects in JavaScript</a:t>
            </a:r>
          </a:p>
          <a:p>
            <a:pPr marL="342900" lvl="1" indent="-342900">
              <a:buSzPct val="115000"/>
            </a:pPr>
            <a:r>
              <a:rPr lang="en-GB" dirty="0"/>
              <a:t>What JSON 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4802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C23A454-2319-421B-AAF7-A6FBB34ADC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45572" y="1349984"/>
            <a:ext cx="7162253" cy="511940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Variables in JavaScript can hold values of any type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They can also hold objects</a:t>
            </a:r>
          </a:p>
          <a:p>
            <a:pPr marL="684000" lvl="1" indent="-342900">
              <a:buSzPct val="115000"/>
            </a:pPr>
            <a:r>
              <a:rPr lang="en-GB" dirty="0"/>
              <a:t>Objects don't always need to be based on classes.</a:t>
            </a:r>
          </a:p>
          <a:p>
            <a:pPr marL="684000" lvl="1" indent="-342900">
              <a:buSzPct val="115000"/>
            </a:pPr>
            <a:r>
              <a:rPr lang="en-GB" dirty="0"/>
              <a:t>You can create an object by simply specifying its properties.</a:t>
            </a:r>
            <a:br>
              <a:rPr lang="en-GB" dirty="0"/>
            </a:br>
            <a:endParaRPr lang="en-GB" dirty="0"/>
          </a:p>
          <a:p>
            <a:pPr marL="684000" lvl="1" indent="-342900">
              <a:buSzPct val="115000"/>
            </a:pPr>
            <a:r>
              <a:rPr lang="en-GB" dirty="0"/>
              <a:t>You can add new properties or methods to an existing object later.</a:t>
            </a:r>
            <a:br>
              <a:rPr lang="en-GB" dirty="0"/>
            </a:b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Objects are declared using { }</a:t>
            </a:r>
          </a:p>
          <a:p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13BB6D5-5626-488F-A1D3-90F3D4E8B8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Objects </a:t>
            </a:r>
          </a:p>
          <a:p>
            <a:r>
              <a:rPr lang="en-GB" dirty="0"/>
              <a:t>in JavaScript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2059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47C3FD8-D0A7-40BF-BB53-C78EB459DCB0}"/>
              </a:ext>
            </a:extLst>
          </p:cNvPr>
          <p:cNvSpPr/>
          <p:nvPr/>
        </p:nvSpPr>
        <p:spPr>
          <a:xfrm>
            <a:off x="1380271" y="1633671"/>
            <a:ext cx="8590500" cy="25853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person1 = {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"Bob"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, surname: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"Smith"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Person1.age = 42;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alert(person1.firstName);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alert(person1.age);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Objects in JavaScript </a:t>
            </a:r>
            <a:r>
              <a:rPr lang="mr-IN" dirty="0"/>
              <a:t>–</a:t>
            </a:r>
            <a:r>
              <a:rPr lang="en-GB" dirty="0"/>
              <a:t> example</a:t>
            </a:r>
          </a:p>
        </p:txBody>
      </p:sp>
    </p:spTree>
    <p:extLst>
      <p:ext uri="{BB962C8B-B14F-4D97-AF65-F5344CB8AC3E}">
        <p14:creationId xmlns:p14="http://schemas.microsoft.com/office/powerpoint/2010/main" val="427122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Objects in JavaScript </a:t>
            </a:r>
            <a:r>
              <a:rPr lang="mr-IN" dirty="0"/>
              <a:t>–</a:t>
            </a:r>
            <a:r>
              <a:rPr lang="en-GB" dirty="0"/>
              <a:t> Passing objects as parameter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22F1C3-205B-42C8-82FE-59A565D4A839}"/>
              </a:ext>
            </a:extLst>
          </p:cNvPr>
          <p:cNvSpPr txBox="1"/>
          <p:nvPr/>
        </p:nvSpPr>
        <p:spPr>
          <a:xfrm>
            <a:off x="959857" y="1574640"/>
            <a:ext cx="9203647" cy="2862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showPerson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(person) {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alert(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person.firstName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 is 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person.age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 years old"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person1 = {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"Bob"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, surname: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"Smith"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person1.age = 42;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showPerson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(person1);</a:t>
            </a:r>
          </a:p>
        </p:txBody>
      </p:sp>
    </p:spTree>
    <p:extLst>
      <p:ext uri="{BB962C8B-B14F-4D97-AF65-F5344CB8AC3E}">
        <p14:creationId xmlns:p14="http://schemas.microsoft.com/office/powerpoint/2010/main" val="1680784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Methods in JavaScript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341272" y="1368256"/>
            <a:ext cx="3782493" cy="4955354"/>
          </a:xfrm>
        </p:spPr>
        <p:txBody>
          <a:bodyPr>
            <a:normAutofit/>
          </a:bodyPr>
          <a:lstStyle/>
          <a:p>
            <a:r>
              <a:rPr lang="en-GB" b="1" dirty="0"/>
              <a:t>To add a method, assign </a:t>
            </a:r>
            <a:br>
              <a:rPr lang="en-GB" b="1" dirty="0"/>
            </a:br>
            <a:r>
              <a:rPr lang="en-GB" b="1" dirty="0"/>
              <a:t>it as a property</a:t>
            </a:r>
          </a:p>
          <a:p>
            <a:pPr marL="342000" lvl="1" indent="-342000">
              <a:buSzPct val="115000"/>
              <a:buFont typeface="Arial" panose="020B0604020202020204" pitchFamily="34" charset="0"/>
              <a:buChar char="•"/>
            </a:pPr>
            <a:endParaRPr lang="en-GB" dirty="0"/>
          </a:p>
          <a:p>
            <a:pPr marL="342000" lvl="1" indent="-342000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Can do this either during or after object creation</a:t>
            </a:r>
          </a:p>
          <a:p>
            <a:pPr marL="342000" lvl="1" indent="-342000">
              <a:buSzPct val="115000"/>
              <a:buFont typeface="Arial" panose="020B0604020202020204" pitchFamily="34" charset="0"/>
              <a:buChar char="•"/>
            </a:pPr>
            <a:endParaRPr lang="en-GB" dirty="0"/>
          </a:p>
          <a:p>
            <a:pPr marL="342000" lvl="1" indent="-342000">
              <a:buSzPct val="115000"/>
              <a:buFont typeface="Arial" panose="020B0604020202020204" pitchFamily="34" charset="0"/>
              <a:buChar char="•"/>
            </a:pPr>
            <a:endParaRPr lang="en-GB" dirty="0"/>
          </a:p>
          <a:p>
            <a:pPr marL="342000" lvl="1" indent="-342000">
              <a:buSzPct val="115000"/>
              <a:buFont typeface="Arial" panose="020B0604020202020204" pitchFamily="34" charset="0"/>
              <a:buChar char="•"/>
            </a:pPr>
            <a:endParaRPr lang="en-GB" dirty="0"/>
          </a:p>
          <a:p>
            <a:pPr marL="342000" lvl="1" indent="-342000">
              <a:buSzPct val="115000"/>
              <a:buFont typeface="Arial" panose="020B0604020202020204" pitchFamily="34" charset="0"/>
              <a:buChar char="•"/>
            </a:pPr>
            <a:endParaRPr lang="en-GB" dirty="0"/>
          </a:p>
          <a:p>
            <a:pPr marL="342000" lvl="1" indent="-342000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From within a method, use “</a:t>
            </a:r>
            <a:r>
              <a:rPr lang="en-GB" b="1" dirty="0" err="1">
                <a:latin typeface="Consolas" charset="0"/>
                <a:ea typeface="Consolas" charset="0"/>
                <a:cs typeface="Consolas" charset="0"/>
              </a:rPr>
              <a:t>this.property</a:t>
            </a:r>
            <a:r>
              <a:rPr lang="en-GB" dirty="0"/>
              <a:t>” to access a property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EE7D41-6A5F-4074-82C4-0B4FC74A6F08}"/>
              </a:ext>
            </a:extLst>
          </p:cNvPr>
          <p:cNvSpPr txBox="1"/>
          <p:nvPr/>
        </p:nvSpPr>
        <p:spPr>
          <a:xfrm>
            <a:off x="4123765" y="1413807"/>
            <a:ext cx="7734024" cy="2862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person1 =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"Bob"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surname: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"Smith"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showAge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()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alert(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`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${</a:t>
            </a:r>
            <a:r>
              <a:rPr lang="en-GB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.firstName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 is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${</a:t>
            </a:r>
            <a:r>
              <a:rPr lang="en-GB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.age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 years old`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person1.age = 25;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person1.showAge();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41F7E0-98C0-4F24-9DA3-94000FE52CDF}"/>
              </a:ext>
            </a:extLst>
          </p:cNvPr>
          <p:cNvSpPr txBox="1"/>
          <p:nvPr/>
        </p:nvSpPr>
        <p:spPr>
          <a:xfrm>
            <a:off x="4116704" y="4548830"/>
            <a:ext cx="7734024" cy="17543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// Example of adding methods afterwards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person1.showFullName =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()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alert(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`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${</a:t>
            </a:r>
            <a:r>
              <a:rPr lang="en-GB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.firstName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${</a:t>
            </a:r>
            <a:r>
              <a:rPr lang="en-GB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.surname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`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person1.showFullName(person1);</a:t>
            </a:r>
          </a:p>
        </p:txBody>
      </p:sp>
    </p:spTree>
    <p:extLst>
      <p:ext uri="{BB962C8B-B14F-4D97-AF65-F5344CB8AC3E}">
        <p14:creationId xmlns:p14="http://schemas.microsoft.com/office/powerpoint/2010/main" val="2115797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08D39-34B6-4304-B637-E389CF011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Defining a class in ES6 (2015+)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3121708" y="1367059"/>
            <a:ext cx="5803900" cy="2862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2B91AF"/>
                </a:solidFill>
                <a:latin typeface="Consolas" panose="020B0609020204030204" pitchFamily="49" charset="0"/>
              </a:rPr>
              <a:t>Employee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constructor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(name) {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.name = name;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doWork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alert(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.name + 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" is working"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3121708" y="4463082"/>
            <a:ext cx="580390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p =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Employee(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"Mike"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p.doWork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039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0283EB3-0F73-46ED-83D9-FF26450D6D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What is JSON  </a:t>
            </a:r>
            <a:r>
              <a:rPr lang="en-GB" dirty="0">
                <a:solidFill>
                  <a:srgbClr val="F91258"/>
                </a:solidFill>
              </a:rPr>
              <a:t>J</a:t>
            </a:r>
            <a:r>
              <a:rPr lang="en-GB" dirty="0"/>
              <a:t>ava</a:t>
            </a:r>
            <a:br>
              <a:rPr lang="en-GB" dirty="0"/>
            </a:br>
            <a:r>
              <a:rPr lang="en-GB" dirty="0">
                <a:solidFill>
                  <a:srgbClr val="F91258"/>
                </a:solidFill>
              </a:rPr>
              <a:t>S</a:t>
            </a:r>
            <a:r>
              <a:rPr lang="en-GB" dirty="0"/>
              <a:t>cript </a:t>
            </a:r>
            <a:r>
              <a:rPr lang="en-GB" dirty="0">
                <a:solidFill>
                  <a:srgbClr val="F91258"/>
                </a:solidFill>
              </a:rPr>
              <a:t>O</a:t>
            </a:r>
            <a:r>
              <a:rPr lang="en-GB" dirty="0"/>
              <a:t>bject </a:t>
            </a:r>
          </a:p>
          <a:p>
            <a:r>
              <a:rPr lang="en-GB" dirty="0">
                <a:solidFill>
                  <a:srgbClr val="F91258"/>
                </a:solidFill>
              </a:rPr>
              <a:t>N</a:t>
            </a:r>
            <a:r>
              <a:rPr lang="en-GB" dirty="0"/>
              <a:t>otation</a:t>
            </a:r>
            <a:endParaRPr lang="en-IN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D88A61-DAF2-4693-BED1-D86B901D45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8" y="1349984"/>
            <a:ext cx="6967492" cy="40941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JSON is a data-interchange format</a:t>
            </a:r>
          </a:p>
          <a:p>
            <a:pPr marL="684000" lvl="2" indent="-342900">
              <a:buSzPct val="115000"/>
            </a:pPr>
            <a:r>
              <a:rPr lang="en-GB" dirty="0"/>
              <a:t>A way of moving data from one place to another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Was originally developed as part of JavaScript</a:t>
            </a:r>
          </a:p>
          <a:p>
            <a:pPr marL="684000" lvl="2" indent="-342900">
              <a:buSzPct val="115000"/>
            </a:pPr>
            <a:r>
              <a:rPr lang="en-GB" dirty="0"/>
              <a:t>But it is now a language-independent </a:t>
            </a:r>
            <a:br>
              <a:rPr lang="en-GB" dirty="0"/>
            </a:br>
            <a:r>
              <a:rPr lang="en-GB" dirty="0"/>
              <a:t>data-interchange format</a:t>
            </a:r>
          </a:p>
          <a:p>
            <a:pPr marL="1026000" lvl="2" indent="-342900">
              <a:buSzPct val="115000"/>
            </a:pPr>
            <a:r>
              <a:rPr lang="en-GB" dirty="0"/>
              <a:t>Many languages, have built-in capabilities to convert data to/from JSON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Example:</a:t>
            </a:r>
          </a:p>
          <a:p>
            <a:pPr marL="684000" lvl="2" indent="-342900">
              <a:buSzPct val="115000"/>
            </a:pPr>
            <a:r>
              <a:rPr lang="en-GB" dirty="0"/>
              <a:t>We’ve already seen an example of JSON, embedded into our JavaScript code: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5782306" y="5355466"/>
            <a:ext cx="5538930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rgbClr val="B8CCE4"/>
              </a:buClr>
            </a:pP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"Bob"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, surname: 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"Smith"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en-GB" sz="1900" dirty="0">
              <a:solidFill>
                <a:srgbClr val="000000"/>
              </a:solidFill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007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complex example of some JSON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341272" y="4939553"/>
            <a:ext cx="11516239" cy="158128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You could create a JavaScript variable:</a:t>
            </a:r>
            <a:br>
              <a:rPr lang="en-GB" dirty="0"/>
            </a:br>
            <a:r>
              <a:rPr lang="en-GB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person = {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"Bob"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, surname: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"Smith"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More examples at </a:t>
            </a:r>
            <a:r>
              <a:rPr lang="en-GB" b="1" dirty="0">
                <a:solidFill>
                  <a:srgbClr val="7E007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http://json.org/example.html</a:t>
            </a:r>
            <a:endParaRPr lang="en-GB" b="1" dirty="0">
              <a:solidFill>
                <a:srgbClr val="7E007C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17810" y="1371483"/>
            <a:ext cx="7156379" cy="32932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GB" sz="1600" b="1" dirty="0">
                <a:solidFill>
                  <a:srgbClr val="2E75B6"/>
                </a:solidFill>
                <a:latin typeface="Consolas" panose="020B0609020204030204" pitchFamily="49" charset="0"/>
              </a:rPr>
              <a:t>"menu"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 {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b="1" dirty="0">
                <a:solidFill>
                  <a:srgbClr val="2E75B6"/>
                </a:solidFill>
                <a:latin typeface="Consolas" panose="020B0609020204030204" pitchFamily="49" charset="0"/>
              </a:rPr>
              <a:t>"id"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"file"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b="1" dirty="0">
                <a:solidFill>
                  <a:srgbClr val="2E75B6"/>
                </a:solidFill>
                <a:latin typeface="Consolas" panose="020B0609020204030204" pitchFamily="49" charset="0"/>
              </a:rPr>
              <a:t>"value"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"File"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b="1" dirty="0">
                <a:solidFill>
                  <a:srgbClr val="2E75B6"/>
                </a:solidFill>
                <a:latin typeface="Consolas" panose="020B0609020204030204" pitchFamily="49" charset="0"/>
              </a:rPr>
              <a:t>"popup"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 {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GB" sz="1600" b="1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 err="1">
                <a:solidFill>
                  <a:srgbClr val="2E75B6"/>
                </a:solidFill>
                <a:latin typeface="Consolas" panose="020B0609020204030204" pitchFamily="49" charset="0"/>
              </a:rPr>
              <a:t>menuitem</a:t>
            </a:r>
            <a:r>
              <a:rPr lang="en-GB" sz="1600" b="1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{ </a:t>
            </a:r>
            <a:r>
              <a:rPr lang="en-GB" sz="1600" b="1" dirty="0">
                <a:solidFill>
                  <a:srgbClr val="2E75B6"/>
                </a:solidFill>
                <a:latin typeface="Consolas" panose="020B0609020204030204" pitchFamily="49" charset="0"/>
              </a:rPr>
              <a:t>"value"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"New"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   </a:t>
            </a:r>
            <a:r>
              <a:rPr lang="en-GB" sz="1600" b="1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 err="1">
                <a:solidFill>
                  <a:srgbClr val="2E75B6"/>
                </a:solidFill>
                <a:latin typeface="Consolas" panose="020B0609020204030204" pitchFamily="49" charset="0"/>
              </a:rPr>
              <a:t>onclick</a:t>
            </a:r>
            <a:r>
              <a:rPr lang="en-GB" sz="1600" b="1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CreateNewDoc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()"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{ </a:t>
            </a:r>
            <a:r>
              <a:rPr lang="en-GB" sz="1600" b="1" dirty="0">
                <a:solidFill>
                  <a:srgbClr val="2E75B6"/>
                </a:solidFill>
                <a:latin typeface="Consolas" panose="020B0609020204030204" pitchFamily="49" charset="0"/>
              </a:rPr>
              <a:t>"value"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"Open"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  </a:t>
            </a:r>
            <a:r>
              <a:rPr lang="en-GB" sz="1600" b="1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 err="1">
                <a:solidFill>
                  <a:srgbClr val="2E75B6"/>
                </a:solidFill>
                <a:latin typeface="Consolas" panose="020B0609020204030204" pitchFamily="49" charset="0"/>
              </a:rPr>
              <a:t>onclick</a:t>
            </a:r>
            <a:r>
              <a:rPr lang="en-GB" sz="1600" b="1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"OpenDoc()"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},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{ </a:t>
            </a:r>
            <a:r>
              <a:rPr lang="en-GB" sz="1600" b="1" dirty="0">
                <a:solidFill>
                  <a:srgbClr val="2E75B6"/>
                </a:solidFill>
                <a:latin typeface="Consolas" panose="020B0609020204030204" pitchFamily="49" charset="0"/>
              </a:rPr>
              <a:t>"value"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"Close"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600" b="1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 err="1">
                <a:solidFill>
                  <a:srgbClr val="2E75B6"/>
                </a:solidFill>
                <a:latin typeface="Consolas" panose="020B0609020204030204" pitchFamily="49" charset="0"/>
              </a:rPr>
              <a:t>onclick</a:t>
            </a:r>
            <a:r>
              <a:rPr lang="en-GB" sz="1600" b="1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CloseDoc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()"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} 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]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EC5CE8A-38D6-41CD-9B61-E6BF0081C471}"/>
              </a:ext>
            </a:extLst>
          </p:cNvPr>
          <p:cNvSpPr/>
          <p:nvPr/>
        </p:nvSpPr>
        <p:spPr>
          <a:xfrm>
            <a:off x="6095999" y="1932367"/>
            <a:ext cx="2229025" cy="466165"/>
          </a:xfrm>
          <a:prstGeom prst="round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  <a:cs typeface="Arial" pitchFamily="34" charset="0"/>
              </a:rPr>
              <a:t>Object within object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7A13222-C9B3-49C4-9E22-4BB8BD0F0CAF}"/>
              </a:ext>
            </a:extLst>
          </p:cNvPr>
          <p:cNvSpPr/>
          <p:nvPr/>
        </p:nvSpPr>
        <p:spPr>
          <a:xfrm>
            <a:off x="6095998" y="4004263"/>
            <a:ext cx="2229025" cy="466165"/>
          </a:xfrm>
          <a:prstGeom prst="round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  <a:cs typeface="Arial" pitchFamily="34" charset="0"/>
              </a:rPr>
              <a:t>Arrays of objects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7A004E6-49A8-4017-B04E-E10AE76BB4EC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4527176" y="2165450"/>
            <a:ext cx="1568823" cy="33617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B6D2847-D2B6-4117-B2ED-C23AB4F49849}"/>
              </a:ext>
            </a:extLst>
          </p:cNvPr>
          <p:cNvCxnSpPr>
            <a:cxnSpLocks/>
          </p:cNvCxnSpPr>
          <p:nvPr/>
        </p:nvCxnSpPr>
        <p:spPr>
          <a:xfrm flipH="1" flipV="1">
            <a:off x="5585012" y="3612776"/>
            <a:ext cx="510987" cy="62457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7582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Converting an Object to JSON string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8328" y="2453891"/>
            <a:ext cx="7890387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names = [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"Bob"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"Ken"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"Linda"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let 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data = </a:t>
            </a:r>
            <a:r>
              <a:rPr lang="en-GB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JSON.stringify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(names))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8328" y="4193777"/>
            <a:ext cx="7890387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person = { </a:t>
            </a:r>
            <a:r>
              <a:rPr lang="en-GB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"Bob"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, surname: 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"Smith"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, age:21 }</a:t>
            </a:r>
          </a:p>
          <a:p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let 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data = </a:t>
            </a:r>
            <a:r>
              <a:rPr lang="en-GB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JSON.stringify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(person))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4DBA0964-B206-4274-8A46-89B460F5B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1106003"/>
          </a:xfrm>
        </p:spPr>
        <p:txBody>
          <a:bodyPr/>
          <a:lstStyle/>
          <a:p>
            <a:r>
              <a:rPr lang="en-GB" b="1" dirty="0"/>
              <a:t>JSON is often used to exchange data to/from a web server.</a:t>
            </a:r>
          </a:p>
          <a:p>
            <a:pPr marL="342900" lvl="1" indent="-342900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This data has to be a string.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2432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Converting a JSON string to an Object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1307005" y="1709292"/>
            <a:ext cx="7890387" cy="41549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data = </a:t>
            </a:r>
            <a:r>
              <a:rPr lang="en-GB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`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[</a:t>
            </a:r>
          </a:p>
          <a:p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  </a:t>
            </a:r>
            <a:r>
              <a:rPr lang="en-GB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 "value": "New",   "onclick": "</a:t>
            </a:r>
            <a:r>
              <a:rPr lang="en-GB" sz="18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CreateNewDoc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()" </a:t>
            </a:r>
            <a:r>
              <a:rPr lang="en-GB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},</a:t>
            </a:r>
          </a:p>
          <a:p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  </a:t>
            </a:r>
            <a:r>
              <a:rPr lang="en-GB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 "value": "Open",  "onclick": "OpenDoc()"      </a:t>
            </a:r>
            <a:r>
              <a:rPr lang="en-GB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},</a:t>
            </a:r>
          </a:p>
          <a:p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  </a:t>
            </a:r>
            <a:r>
              <a:rPr lang="en-GB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 "value": "Close", "onclick": "</a:t>
            </a:r>
            <a:r>
              <a:rPr lang="en-GB" sz="18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CloseDoc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()"     </a:t>
            </a:r>
            <a:r>
              <a:rPr lang="en-GB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]</a:t>
            </a:r>
            <a:r>
              <a:rPr lang="en-GB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`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menus =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JSON.</a:t>
            </a:r>
            <a:r>
              <a:rPr lang="en-GB" sz="18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parse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(data);</a:t>
            </a:r>
          </a:p>
          <a:p>
            <a:endParaRPr lang="en-GB" sz="1800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en-GB" sz="1800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menus.length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n-NO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console.log(menus[i].value);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283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3F89A57-F7D7-4AE7-9213-FE2A66C8A1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Summary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2780FB-FEC4-4425-9840-E1754CCF3B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ctr"/>
          <a:lstStyle/>
          <a:p>
            <a:r>
              <a:rPr lang="en-GB" b="1" dirty="0"/>
              <a:t>In this chapter you learned: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How to create and use objects in JavaScript</a:t>
            </a:r>
            <a:br>
              <a:rPr lang="en-GB" dirty="0"/>
            </a:br>
            <a:endParaRPr lang="en-GB" dirty="0"/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What JSON is and why we use 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0417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605EC2-B267-4B28-B06B-EEBDD7327D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784" y="1349984"/>
            <a:ext cx="3443732" cy="2751998"/>
          </a:xfrm>
        </p:spPr>
        <p:txBody>
          <a:bodyPr/>
          <a:lstStyle/>
          <a:p>
            <a:r>
              <a:rPr lang="en-GB" dirty="0"/>
              <a:t>Lab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26E09-98B6-4AAA-B8BF-EEA5094185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IN" dirty="0"/>
              <a:t>Please do the following lab</a:t>
            </a:r>
          </a:p>
          <a:p>
            <a:r>
              <a:rPr lang="en-GB" b="1" dirty="0"/>
              <a:t>Objects and JSON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05974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61ba5a240904b86632099fc56e12dead204a13"/>
</p:tagLst>
</file>

<file path=ppt/theme/theme1.xml><?xml version="1.0" encoding="utf-8"?>
<a:theme xmlns:a="http://schemas.openxmlformats.org/drawingml/2006/main" name="Master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Courseware" ma:contentTypeID="0x010100F0967B7CEE8D417F966757887D9466FB005CB7CECC996A5B448C70C3215DE65491" ma:contentTypeVersion="0" ma:contentTypeDescription="Base content type which represents courseware documents" ma:contentTypeScope="" ma:versionID="633ed7bf8a9769dc10b8af609c2e65e8">
  <xsd:schema xmlns:xsd="http://www.w3.org/2001/XMLSchema" xmlns:xs="http://www.w3.org/2001/XMLSchema" xmlns:p="http://schemas.microsoft.com/office/2006/metadata/properties" xmlns:ns2="B42EA499-AA80-4ED5-9ED5-37A17D3EB549" targetNamespace="http://schemas.microsoft.com/office/2006/metadata/properties" ma:root="true" ma:fieldsID="6641bdc0935a9ffdc34b1682c1e0febc" ns2:_="">
    <xsd:import namespace="B42EA499-AA80-4ED5-9ED5-37A17D3EB549"/>
    <xsd:element name="properties">
      <xsd:complexType>
        <xsd:sequence>
          <xsd:element name="documentManagement">
            <xsd:complexType>
              <xsd:all>
                <xsd:element ref="ns2:BookTypeField0" minOccurs="0"/>
                <xsd:element ref="ns2:SequenceNumber" minOccurs="0"/>
                <xsd:element ref="ns2:IsBuild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2EA499-AA80-4ED5-9ED5-37A17D3EB549" elementFormDefault="qualified">
    <xsd:import namespace="http://schemas.microsoft.com/office/2006/documentManagement/types"/>
    <xsd:import namespace="http://schemas.microsoft.com/office/infopath/2007/PartnerControls"/>
    <xsd:element name="BookTypeField0" ma:index="9" nillable="true" ma:taxonomy="true" ma:internalName="BookTypeField0" ma:taxonomyFieldName="BookType" ma:displayName="Book Type" ma:fieldId="{e7c6b654-e04e-4e45-9cfd-676dbef3a3c6}" ma:sspId="63102202-80dd-4165-b1ca-d09cf2756dc1" ma:termSetId="3300959e-7346-4208-831a-90b552f1677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equenceNumber" ma:index="10" nillable="true" ma:displayName="Sequence Number" ma:decimals="0" ma:internalName="SequenceNumber">
      <xsd:simpleType>
        <xsd:restriction base="dms:Number"/>
      </xsd:simpleType>
    </xsd:element>
    <xsd:element name="IsBuildFile" ma:index="11" nillable="true" ma:displayName="Is Build File" ma:hidden="true" ma:internalName="IsBuildFil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ookTypeField0 xmlns="B42EA499-AA80-4ED5-9ED5-37A17D3EB549">
      <Terms xmlns="http://schemas.microsoft.com/office/infopath/2007/PartnerControls"/>
    </BookTypeField0>
    <IsBuildFile xmlns="B42EA499-AA80-4ED5-9ED5-37A17D3EB549" xsi:nil="true"/>
    <SequenceNumber xmlns="B42EA499-AA80-4ED5-9ED5-37A17D3EB549" xsi:nil="true"/>
  </documentManagement>
</p:properties>
</file>

<file path=customXml/itemProps1.xml><?xml version="1.0" encoding="utf-8"?>
<ds:datastoreItem xmlns:ds="http://schemas.openxmlformats.org/officeDocument/2006/customXml" ds:itemID="{B46469E3-16EC-4EB5-87ED-90831C1B186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2EA499-AA80-4ED5-9ED5-37A17D3EB5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3ED7078-7D27-4FC6-86A3-6FA7A5164F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11FFE42-38A4-4A2A-B4F9-4F01E4315AB4}">
  <ds:schemaRefs>
    <ds:schemaRef ds:uri="http://schemas.microsoft.com/office/2006/metadata/properties"/>
    <ds:schemaRef ds:uri="http://schemas.microsoft.com/office/infopath/2007/PartnerControls"/>
    <ds:schemaRef ds:uri="B42EA499-AA80-4ED5-9ED5-37A17D3EB54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829</Words>
  <Application>Microsoft Office PowerPoint</Application>
  <PresentationFormat>Widescreen</PresentationFormat>
  <Paragraphs>151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Consolas</vt:lpstr>
      <vt:lpstr>Krana Fat B</vt:lpstr>
      <vt:lpstr>Montserrat</vt:lpstr>
      <vt:lpstr>Wingdings</vt:lpstr>
      <vt:lpstr>Master</vt:lpstr>
      <vt:lpstr>  Web Development JavaScript</vt:lpstr>
      <vt:lpstr>Objects and JSON  </vt:lpstr>
      <vt:lpstr>PowerPoint Presentation</vt:lpstr>
      <vt:lpstr>PowerPoint Presentation</vt:lpstr>
      <vt:lpstr>Objects in JavaScript – example</vt:lpstr>
      <vt:lpstr>Objects in JavaScript – Passing objects as parameter</vt:lpstr>
      <vt:lpstr>Adding Methods in JavaScript</vt:lpstr>
      <vt:lpstr>Defining a class in ES6 (2015+)</vt:lpstr>
      <vt:lpstr>PowerPoint Presentation</vt:lpstr>
      <vt:lpstr>A complex example of some JSON</vt:lpstr>
      <vt:lpstr>Converting an Object to JSON string</vt:lpstr>
      <vt:lpstr>Converting a JSON string to an Object</vt:lpstr>
      <vt:lpstr>PowerPoint Presentation</vt:lpstr>
      <vt:lpstr>PowerPoint Presentation</vt:lpstr>
    </vt:vector>
  </TitlesOfParts>
  <Manager/>
  <Company>QA Ltd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Singh, Vaishali</dc:creator>
  <cp:keywords/>
  <dc:description/>
  <cp:lastModifiedBy>mike baradaran</cp:lastModifiedBy>
  <cp:revision>148</cp:revision>
  <cp:lastPrinted>2019-07-03T09:46:41Z</cp:lastPrinted>
  <dcterms:created xsi:type="dcterms:W3CDTF">2019-09-05T08:17:12Z</dcterms:created>
  <dcterms:modified xsi:type="dcterms:W3CDTF">2025-06-15T16:14:44Z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0x010100F0967B7CEE8D417F966757887D9466FB005CB7CECC996A5B448C70C3215DE65491</vt:lpwstr>
  </property>
</Properties>
</file>