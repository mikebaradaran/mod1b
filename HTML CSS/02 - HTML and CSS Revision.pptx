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610" r:id="rId5"/>
    <p:sldId id="611" r:id="rId6"/>
    <p:sldId id="612" r:id="rId7"/>
    <p:sldId id="606" r:id="rId8"/>
    <p:sldId id="854" r:id="rId9"/>
    <p:sldId id="855" r:id="rId10"/>
    <p:sldId id="916" r:id="rId11"/>
    <p:sldId id="879" r:id="rId12"/>
    <p:sldId id="1101" r:id="rId13"/>
    <p:sldId id="862" r:id="rId14"/>
    <p:sldId id="865" r:id="rId15"/>
    <p:sldId id="892" r:id="rId16"/>
    <p:sldId id="607" r:id="rId17"/>
    <p:sldId id="608" r:id="rId18"/>
    <p:sldId id="893" r:id="rId19"/>
    <p:sldId id="895" r:id="rId20"/>
    <p:sldId id="1083" r:id="rId21"/>
    <p:sldId id="1095" r:id="rId22"/>
    <p:sldId id="872" r:id="rId23"/>
    <p:sldId id="1081" r:id="rId24"/>
    <p:sldId id="1082" r:id="rId25"/>
    <p:sldId id="897" r:id="rId26"/>
    <p:sldId id="604" r:id="rId27"/>
    <p:sldId id="620" r:id="rId28"/>
    <p:sldId id="605" r:id="rId29"/>
    <p:sldId id="896" r:id="rId30"/>
  </p:sldIdLst>
  <p:sldSz cx="12192000" cy="6858000"/>
  <p:notesSz cx="6645275" cy="9775825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9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22C"/>
    <a:srgbClr val="09EDB8"/>
    <a:srgbClr val="004050"/>
    <a:srgbClr val="F91258"/>
    <a:srgbClr val="7E007C"/>
    <a:srgbClr val="28CFF9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92750" autoAdjust="0"/>
  </p:normalViewPr>
  <p:slideViewPr>
    <p:cSldViewPr snapToGrid="0" snapToObjects="1" showGuides="1">
      <p:cViewPr varScale="1">
        <p:scale>
          <a:sx n="64" d="100"/>
          <a:sy n="64" d="100"/>
        </p:scale>
        <p:origin x="1704" y="278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91" d="100"/>
          <a:sy n="91" d="100"/>
        </p:scale>
        <p:origin x="-3804" y="-108"/>
      </p:cViewPr>
      <p:guideLst>
        <p:guide orient="horz" pos="3079"/>
        <p:guide pos="209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19/10/2025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19/10/2025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310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81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247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035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CONTINUED </a:t>
            </a:r>
            <a:fld id="{993982D2-741D-4BC6-8F8E-84F7C8891268}" type="slidenum">
              <a:rPr smtClean="0"/>
              <a:pPr>
                <a:defRPr/>
              </a:pPr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1588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8399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9477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3824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6100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9123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8843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9670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408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5383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597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06079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018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9085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24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6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/demo2.html?page=page1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5" Type="http://schemas.openxmlformats.org/officeDocument/2006/relationships/hyperlink" Target="/demo2.html?page=lists.html" TargetMode="Externa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/demo2.html?page=tables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/demo2.html?page=inputtingData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qa.com/media/iuzn2ohj/qa-award.png?width=608&amp;height=320&amp;rnd=133941195704470000" TargetMode="Externa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/PositionElements.html" TargetMode="Externa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/demo2.html?page=paddingMarginDisplay.html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791D9A-0056-42B3-8A51-E93834082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Web Fundamentals 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1981F4-150A-4024-9F5E-63623AF69A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000" dirty="0"/>
              <a:t>HTML and CSS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671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6C9B-E1F0-4A77-A04A-7F5733AF4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238" y="1556247"/>
            <a:ext cx="6265861" cy="227760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15000"/>
            </a:pPr>
            <a:r>
              <a:rPr lang="en-GB" dirty="0">
                <a:ea typeface="+mn-ea"/>
                <a:cs typeface="+mn-cs"/>
              </a:rPr>
              <a:t>HTML and CSS Revision</a:t>
            </a:r>
            <a:endParaRPr lang="en-IN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638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1AE46C-9457-4C9B-ADBD-6F66616841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43E85-2956-4A25-9DBF-10584849EE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chapter, you will:</a:t>
            </a:r>
          </a:p>
          <a:p>
            <a:pPr marL="342900" lvl="1" indent="-342900">
              <a:buSzPct val="115000"/>
            </a:pPr>
            <a:r>
              <a:rPr lang="en-GB" dirty="0"/>
              <a:t>Revise the HTML and CSS that you covered in the pre-learning</a:t>
            </a:r>
          </a:p>
          <a:p>
            <a:pPr marL="342900" indent="-342900"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15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</p:spPr>
        <p:txBody>
          <a:bodyPr/>
          <a:lstStyle/>
          <a:p>
            <a:r>
              <a:rPr lang="en-GB" dirty="0"/>
              <a:t>HTML Tags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3F0650F-7AEC-42DB-85D1-2FF28C76D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HTML consists of text, combined with tags like &lt;this&gt;</a:t>
            </a:r>
            <a:endParaRPr lang="en-GB" dirty="0"/>
          </a:p>
          <a:p>
            <a:pPr marL="6840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dirty="0"/>
              <a:t>Some need to come in a specific </a:t>
            </a:r>
            <a:r>
              <a:rPr lang="en-GB" b="1" dirty="0"/>
              <a:t>order</a:t>
            </a:r>
            <a:r>
              <a:rPr lang="en-GB" dirty="0"/>
              <a:t>, or in specific </a:t>
            </a:r>
            <a:r>
              <a:rPr lang="en-GB" b="1" dirty="0"/>
              <a:t>places</a:t>
            </a:r>
          </a:p>
          <a:p>
            <a:pPr marL="6840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dirty="0"/>
              <a:t>They need to be “closed”? </a:t>
            </a:r>
          </a:p>
          <a:p>
            <a:pPr marL="360000" lvl="1" indent="0">
              <a:spcAft>
                <a:spcPts val="400"/>
              </a:spcAft>
              <a:buNone/>
            </a:pPr>
            <a:endParaRPr lang="en-GB" dirty="0"/>
          </a:p>
          <a:p>
            <a:pPr marL="360000" lvl="1" indent="0">
              <a:spcAft>
                <a:spcPts val="400"/>
              </a:spcAft>
              <a:buNone/>
            </a:pPr>
            <a:endParaRPr lang="en-GB" dirty="0"/>
          </a:p>
          <a:p>
            <a:pPr marL="360000" lvl="1" indent="0">
              <a:spcAft>
                <a:spcPts val="400"/>
              </a:spcAft>
              <a:buNone/>
            </a:pPr>
            <a:endParaRPr lang="en-GB" dirty="0"/>
          </a:p>
          <a:p>
            <a:pPr marL="360000" lvl="1" indent="0">
              <a:spcAft>
                <a:spcPts val="400"/>
              </a:spcAft>
              <a:buNone/>
            </a:pPr>
            <a:endParaRPr lang="en-GB" dirty="0"/>
          </a:p>
          <a:p>
            <a:pPr marL="684000" lvl="1" indent="-342900">
              <a:spcAft>
                <a:spcPts val="400"/>
              </a:spcAft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684000" lvl="1" indent="-342900">
              <a:spcAft>
                <a:spcPts val="400"/>
              </a:spcAft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684000" lvl="1" indent="-342900">
              <a:spcAft>
                <a:spcPts val="400"/>
              </a:spcAft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684000" lvl="1" indent="-342900">
              <a:spcAft>
                <a:spcPts val="400"/>
              </a:spcAft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684000" lvl="1" indent="-342900">
              <a:spcAft>
                <a:spcPts val="400"/>
              </a:spcAft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684000" lvl="1" indent="-342900">
              <a:spcAft>
                <a:spcPts val="4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Some can’t be placed within other tags (like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dirty="0"/>
              <a:t>within a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E45D6-8AF6-4BF0-AEF6-B2B427D62ACA}"/>
              </a:ext>
            </a:extLst>
          </p:cNvPr>
          <p:cNvSpPr/>
          <p:nvPr/>
        </p:nvSpPr>
        <p:spPr>
          <a:xfrm>
            <a:off x="3426994" y="2553271"/>
            <a:ext cx="5338012" cy="2585323"/>
          </a:xfrm>
          <a:prstGeom prst="rect">
            <a:avLst/>
          </a:prstGeom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&lt;!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DOCTYPE html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	&lt;title&gt;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Title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&lt;/title&gt;</a:t>
            </a: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&lt;/head&gt;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	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Body of page goes here</a:t>
            </a: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06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HTML5 page  (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H</a:t>
            </a:r>
            <a:r>
              <a:rPr lang="en-GB" sz="2800" dirty="0"/>
              <a:t>ypertext 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en-GB" sz="2800" dirty="0"/>
              <a:t>arkup 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L</a:t>
            </a:r>
            <a:r>
              <a:rPr lang="en-GB" sz="2800" dirty="0"/>
              <a:t>anguage)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F3F18-9A57-48FB-9F81-38AFD43FABE6}"/>
              </a:ext>
            </a:extLst>
          </p:cNvPr>
          <p:cNvSpPr txBox="1"/>
          <p:nvPr/>
        </p:nvSpPr>
        <p:spPr>
          <a:xfrm>
            <a:off x="665251" y="1482317"/>
            <a:ext cx="9639729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!DOCTYPE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lang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="en"&gt;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meta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charset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="UTF-8"&gt;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meta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="viewport"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="width=device-width, initial-scale=1.0"&gt;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Document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994CB837-CB58-487A-9B1A-3AA2AD7D7FFC}"/>
              </a:ext>
            </a:extLst>
          </p:cNvPr>
          <p:cNvSpPr/>
          <p:nvPr/>
        </p:nvSpPr>
        <p:spPr>
          <a:xfrm>
            <a:off x="3456138" y="1383196"/>
            <a:ext cx="4439164" cy="555157"/>
          </a:xfrm>
          <a:prstGeom prst="borderCallout1">
            <a:avLst>
              <a:gd name="adj1" fmla="val 50893"/>
              <a:gd name="adj2" fmla="val -505"/>
              <a:gd name="adj3" fmla="val 50699"/>
              <a:gd name="adj4" fmla="val -16334"/>
            </a:avLst>
          </a:prstGeom>
          <a:solidFill>
            <a:schemeClr val="bg2">
              <a:lumMod val="95000"/>
            </a:schemeClr>
          </a:solidFill>
          <a:ln w="19050"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nformation to the browser to ensure </a:t>
            </a:r>
            <a:r>
              <a:rPr lang="en-GB" sz="1400" b="1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web page is parsed the same way by different web browsers</a:t>
            </a:r>
            <a:endParaRPr lang="en-GB" sz="1400" b="1" dirty="0"/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A69AE4D4-41F1-4697-8498-A7586FD1F3CF}"/>
              </a:ext>
            </a:extLst>
          </p:cNvPr>
          <p:cNvSpPr/>
          <p:nvPr/>
        </p:nvSpPr>
        <p:spPr>
          <a:xfrm>
            <a:off x="7897949" y="3334677"/>
            <a:ext cx="3340322" cy="452197"/>
          </a:xfrm>
          <a:prstGeom prst="borderCallout1">
            <a:avLst>
              <a:gd name="adj1" fmla="val 52602"/>
              <a:gd name="adj2" fmla="val 1"/>
              <a:gd name="adj3" fmla="val -60637"/>
              <a:gd name="adj4" fmla="val -9081"/>
            </a:avLst>
          </a:prstGeom>
          <a:solidFill>
            <a:schemeClr val="tx1">
              <a:lumMod val="10000"/>
              <a:lumOff val="90000"/>
            </a:schemeClr>
          </a:solidFill>
          <a:ln w="19050"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Best display for the user’s viewport</a:t>
            </a:r>
            <a:endParaRPr lang="en-GB" sz="1400" dirty="0"/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19B05585-8233-452A-B86C-F6073F6B39DA}"/>
              </a:ext>
            </a:extLst>
          </p:cNvPr>
          <p:cNvSpPr/>
          <p:nvPr/>
        </p:nvSpPr>
        <p:spPr>
          <a:xfrm>
            <a:off x="3879150" y="4042986"/>
            <a:ext cx="2747905" cy="371694"/>
          </a:xfrm>
          <a:prstGeom prst="borderCallout1">
            <a:avLst>
              <a:gd name="adj1" fmla="val 50893"/>
              <a:gd name="adj2" fmla="val -505"/>
              <a:gd name="adj3" fmla="val -42128"/>
              <a:gd name="adj4" fmla="val -14300"/>
            </a:avLst>
          </a:prstGeom>
          <a:solidFill>
            <a:schemeClr val="accent5">
              <a:lumMod val="40000"/>
              <a:lumOff val="60000"/>
            </a:schemeClr>
          </a:solidFill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Best in a separate files</a:t>
            </a:r>
            <a:endParaRPr lang="en-GB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28D976-12AB-4347-AC14-305B82A74B11}"/>
              </a:ext>
            </a:extLst>
          </p:cNvPr>
          <p:cNvSpPr txBox="1"/>
          <p:nvPr/>
        </p:nvSpPr>
        <p:spPr>
          <a:xfrm>
            <a:off x="337091" y="5778132"/>
            <a:ext cx="11354900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/>
            <a:r>
              <a:rPr lang="en-GB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older documents (like HTML 4 or XHTML), the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DOCTYPE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refers to a DTD (Document Type Definition).</a:t>
            </a:r>
          </a:p>
          <a:p>
            <a:pPr algn="l"/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 4.01: 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GB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 PUBLIC "-//W3C//DTD HTML 4.01 Transitional//EN" "http://www.w3.org/TR/html4/loose.dtd"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XHTML 1.1: 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GB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 PUBLIC "-//W3C//DTD XHTML 1.1//EN" "http://www.w3.org/TR/xhtml11/DTD/xhtml11.dtd"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82B27D-57DB-4C44-B11D-B128F2BF2205}"/>
              </a:ext>
            </a:extLst>
          </p:cNvPr>
          <p:cNvSpPr txBox="1"/>
          <p:nvPr/>
        </p:nvSpPr>
        <p:spPr>
          <a:xfrm>
            <a:off x="1178585" y="3202099"/>
            <a:ext cx="5104228" cy="584775"/>
          </a:xfrm>
          <a:prstGeom prst="rect">
            <a:avLst/>
          </a:prstGeom>
          <a:noFill/>
          <a:ln w="9525">
            <a:solidFill>
              <a:schemeClr val="accent1">
                <a:lumMod val="50000"/>
                <a:lumOff val="50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="qaScript.js"&gt;&lt;/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link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="qaStyle.css"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rel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="stylesheet"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72261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Revision: Tags for displaying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19255"/>
            <a:ext cx="11516239" cy="4955354"/>
          </a:xfrm>
        </p:spPr>
        <p:txBody>
          <a:bodyPr/>
          <a:lstStyle/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Calibri" panose="020F0502020204030204" pitchFamily="34" charset="0"/>
              </a:rPr>
              <a:t>Displaying text and 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h1,2,3,4,5,6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 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Container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 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Breaks and lines</a:t>
            </a: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hr /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 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 /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24FB9-B73A-4AD7-9638-058CF7068604}"/>
              </a:ext>
            </a:extLst>
          </p:cNvPr>
          <p:cNvSpPr txBox="1"/>
          <p:nvPr/>
        </p:nvSpPr>
        <p:spPr>
          <a:xfrm>
            <a:off x="4980037" y="1583366"/>
            <a:ext cx="2703871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h4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4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h4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h5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5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h5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Paragrap1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Paragrap2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871AF5-ABE0-47E9-8384-286A43110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330" y="995362"/>
            <a:ext cx="3009900" cy="5476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90DE9D1-FCD5-4A25-94AC-5F93A5186992}"/>
              </a:ext>
            </a:extLst>
          </p:cNvPr>
          <p:cNvSpPr/>
          <p:nvPr/>
        </p:nvSpPr>
        <p:spPr>
          <a:xfrm>
            <a:off x="7688825" y="3274139"/>
            <a:ext cx="452284" cy="452284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867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78889"/>
            <a:ext cx="11516239" cy="4955354"/>
          </a:xfrm>
        </p:spPr>
        <p:txBody>
          <a:bodyPr/>
          <a:lstStyle/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Calibri" panose="020F0502020204030204" pitchFamily="34" charset="0"/>
              </a:rPr>
              <a:t>&lt;small&gt;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&lt;strong&gt; and &lt;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b&gt;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&lt;</a:t>
            </a:r>
            <a:r>
              <a:rPr lang="en-GB" sz="1800" b="1" dirty="0" err="1">
                <a:latin typeface="Calibri" panose="020F0502020204030204" pitchFamily="34" charset="0"/>
              </a:rPr>
              <a:t>i</a:t>
            </a:r>
            <a:r>
              <a:rPr lang="en-GB" sz="1800" b="1" dirty="0">
                <a:latin typeface="Calibri" panose="020F0502020204030204" pitchFamily="34" charset="0"/>
              </a:rPr>
              <a:t>&gt;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Calibri" panose="020F0502020204030204" pitchFamily="34" charset="0"/>
              </a:rPr>
              <a:t>&lt;u&gt;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br>
              <a:rPr lang="en-GB" sz="1800" b="1" dirty="0">
                <a:latin typeface="Calibri" panose="020F0502020204030204" pitchFamily="34" charset="0"/>
              </a:rPr>
            </a:br>
            <a:endParaRPr lang="en-GB" sz="1800" b="1" dirty="0"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sub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latin typeface="Calibri" panose="020F0502020204030204" pitchFamily="34" charset="0"/>
              </a:rPr>
              <a:t> and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sup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del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ins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b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mark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text</a:t>
            </a:r>
          </a:p>
          <a:p>
            <a:pPr lvl="1" indent="0">
              <a:spcAft>
                <a:spcPts val="0"/>
              </a:spcAft>
              <a:buNone/>
            </a:pP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BA0E37D-5DB5-4AA0-B2DD-22D2C6F84669}"/>
              </a:ext>
            </a:extLst>
          </p:cNvPr>
          <p:cNvSpPr/>
          <p:nvPr/>
        </p:nvSpPr>
        <p:spPr>
          <a:xfrm>
            <a:off x="2964425" y="3030657"/>
            <a:ext cx="5083277" cy="82590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Water is H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sub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sub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b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if x is 5 then x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sup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sup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25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865618-60D6-477C-9FE2-07536EA79C9C}"/>
              </a:ext>
            </a:extLst>
          </p:cNvPr>
          <p:cNvSpPr/>
          <p:nvPr/>
        </p:nvSpPr>
        <p:spPr>
          <a:xfrm>
            <a:off x="2964424" y="4302160"/>
            <a:ext cx="5083277" cy="105545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indent="-101600"/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del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delete this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del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textThis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text is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insert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here!Mark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my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mark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word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mark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val 7">
            <a:hlinkClick r:id="rId3" action="ppaction://hlinkfile"/>
            <a:extLst>
              <a:ext uri="{FF2B5EF4-FFF2-40B4-BE49-F238E27FC236}">
                <a16:creationId xmlns:a16="http://schemas.microsoft.com/office/drawing/2014/main" id="{09E59880-E3C1-8200-934B-87026AEBA526}"/>
              </a:ext>
            </a:extLst>
          </p:cNvPr>
          <p:cNvSpPr/>
          <p:nvPr/>
        </p:nvSpPr>
        <p:spPr>
          <a:xfrm>
            <a:off x="10254227" y="5975693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522BDC-240B-9330-284C-2314AF412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33" y="1308126"/>
            <a:ext cx="1590675" cy="3362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41E9619-F6E2-C922-AD11-080A39DE39CD}"/>
              </a:ext>
            </a:extLst>
          </p:cNvPr>
          <p:cNvSpPr/>
          <p:nvPr/>
        </p:nvSpPr>
        <p:spPr>
          <a:xfrm>
            <a:off x="2964424" y="1316222"/>
            <a:ext cx="5083277" cy="15703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small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Small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small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b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strong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Small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strong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Bold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b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Italic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u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Underline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u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664557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Displaying images – Using relative and absolute path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550" y="1380499"/>
            <a:ext cx="11516239" cy="4955354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GB" sz="1800" b="1" dirty="0">
                <a:latin typeface="Consolas" panose="020B0609020204030204" pitchFamily="49" charset="0"/>
              </a:rPr>
              <a:t> </a:t>
            </a:r>
          </a:p>
          <a:p>
            <a:r>
              <a:rPr lang="en-GB" sz="1800" b="1" dirty="0">
                <a:latin typeface="Consolas" panose="020B0609020204030204" pitchFamily="49" charset="0"/>
              </a:rPr>
              <a:t> Image in a sub-folder relative to the html page: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="images/team.jpg"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="QA team picture"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latin typeface="Consolas" panose="020B0609020204030204" pitchFamily="49" charset="0"/>
              </a:rPr>
              <a:t> Or use absolute path: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="/images/logo.jpg"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="QA logo"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endParaRPr lang="en-GB" sz="1800" b="1" dirty="0">
              <a:latin typeface="Consolas" panose="020B0609020204030204" pitchFamily="49" charset="0"/>
            </a:endParaRPr>
          </a:p>
          <a:p>
            <a:r>
              <a:rPr lang="en-GB" sz="1800" b="1" dirty="0">
                <a:latin typeface="Consolas" panose="020B0609020204030204" pitchFamily="49" charset="0"/>
              </a:rPr>
              <a:t> Or get the image from another site: 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https://qa.com/images/team.jpg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QA team picture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 /&gt;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b="1" dirty="0"/>
          </a:p>
        </p:txBody>
      </p:sp>
      <p:pic>
        <p:nvPicPr>
          <p:cNvPr id="5" name="Picture 4" descr="A picture containing text, posing&#10;&#10;Description automatically generated">
            <a:extLst>
              <a:ext uri="{FF2B5EF4-FFF2-40B4-BE49-F238E27FC236}">
                <a16:creationId xmlns:a16="http://schemas.microsoft.com/office/drawing/2014/main" id="{56BAC5E5-96B2-487C-B640-D6106AEAC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946" y="1469409"/>
            <a:ext cx="2726035" cy="11274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E10D38-70ED-65DA-7F10-734FC15AE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925" y="2790825"/>
            <a:ext cx="212407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25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550" y="1380499"/>
            <a:ext cx="11516239" cy="4955354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Hyperlinks are used to link from one page to another or to navigate to an external site</a:t>
            </a:r>
            <a:endParaRPr lang="en-GB" sz="1800" b="1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They change colour when clicked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Text is not the only option </a:t>
            </a:r>
            <a:b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For example, you can use a hyperlinked image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EC6D03-126C-6713-E6EB-77BB76E3825C}"/>
              </a:ext>
            </a:extLst>
          </p:cNvPr>
          <p:cNvSpPr txBox="1"/>
          <p:nvPr/>
        </p:nvSpPr>
        <p:spPr>
          <a:xfrm>
            <a:off x="894080" y="2304256"/>
            <a:ext cx="586232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="page2.html"&gt;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Go to page2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="https://www.qa.com/"&gt;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QA Training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68693B-498A-2A23-54A1-AB8FCE1ED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890" y="2507706"/>
            <a:ext cx="1496803" cy="7231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94CD74-9429-6E15-C158-C964DB3A7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261" y="2164080"/>
            <a:ext cx="2331720" cy="155448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B19A4AC-1781-42E3-68E7-B3533F06EC31}"/>
              </a:ext>
            </a:extLst>
          </p:cNvPr>
          <p:cNvSpPr txBox="1"/>
          <p:nvPr/>
        </p:nvSpPr>
        <p:spPr>
          <a:xfrm>
            <a:off x="894080" y="4775815"/>
            <a:ext cx="586232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="https://www.qa.com/"&gt;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="team.jpg"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="QA team"/&gt;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238EF2A-723D-7AF2-6C0B-8AAC7447C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5056" y="4572140"/>
            <a:ext cx="2328926" cy="127250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0504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List Boxes</a:t>
            </a:r>
          </a:p>
          <a:p>
            <a:pPr marL="641350" lvl="4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select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Ordered and unordered lists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&lt;ul&gt;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&gt;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&lt;li&gt;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B2E63A-ADB9-41BD-A418-8DE2BF7AC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534" y="1367059"/>
            <a:ext cx="1980314" cy="14271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B0CCBF-9497-4D55-8819-AC333D07B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956" y="3647996"/>
            <a:ext cx="1867892" cy="27696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Oval 6">
            <a:hlinkClick r:id="rId5" action="ppaction://hlinkfile"/>
            <a:extLst>
              <a:ext uri="{FF2B5EF4-FFF2-40B4-BE49-F238E27FC236}">
                <a16:creationId xmlns:a16="http://schemas.microsoft.com/office/drawing/2014/main" id="{2CE57BA1-CC8E-C01A-7CCA-267CE78A2AB7}"/>
              </a:ext>
            </a:extLst>
          </p:cNvPr>
          <p:cNvSpPr/>
          <p:nvPr/>
        </p:nvSpPr>
        <p:spPr>
          <a:xfrm>
            <a:off x="3491127" y="6024339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2D08B-E784-9433-00F4-A48F117083D8}"/>
              </a:ext>
            </a:extLst>
          </p:cNvPr>
          <p:cNvSpPr txBox="1"/>
          <p:nvPr/>
        </p:nvSpPr>
        <p:spPr>
          <a:xfrm>
            <a:off x="7663869" y="692762"/>
            <a:ext cx="3636922" cy="2677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    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Option 1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Option 1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Option 3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size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="3"&gt;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Option 1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Option 1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Option 3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Option 4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436333-3F94-B48D-6DB0-CF3E6D007ED6}"/>
              </a:ext>
            </a:extLst>
          </p:cNvPr>
          <p:cNvSpPr txBox="1"/>
          <p:nvPr/>
        </p:nvSpPr>
        <p:spPr>
          <a:xfrm>
            <a:off x="7690152" y="3647996"/>
            <a:ext cx="3623670" cy="28931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    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ol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ol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Bullet list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3439467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– For displaying data and basic positioning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9CB10F-54F3-425E-BC3A-21733223E491}"/>
              </a:ext>
            </a:extLst>
          </p:cNvPr>
          <p:cNvSpPr txBox="1"/>
          <p:nvPr/>
        </p:nvSpPr>
        <p:spPr>
          <a:xfrm>
            <a:off x="391655" y="1235917"/>
            <a:ext cx="7450681" cy="52629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thead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Name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 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Surname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 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thead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Jill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Smith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Eve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Jackson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30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tfoot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Average age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40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OK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tfoot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/>
          </a:p>
        </p:txBody>
      </p:sp>
      <p:sp>
        <p:nvSpPr>
          <p:cNvPr id="14" name="Callout: Line 13">
            <a:extLst>
              <a:ext uri="{FF2B5EF4-FFF2-40B4-BE49-F238E27FC236}">
                <a16:creationId xmlns:a16="http://schemas.microsoft.com/office/drawing/2014/main" id="{268BF30A-A938-470A-B560-104B182BE067}"/>
              </a:ext>
            </a:extLst>
          </p:cNvPr>
          <p:cNvSpPr/>
          <p:nvPr/>
        </p:nvSpPr>
        <p:spPr>
          <a:xfrm>
            <a:off x="5127220" y="5186402"/>
            <a:ext cx="2057814" cy="474080"/>
          </a:xfrm>
          <a:prstGeom prst="borderCallout1">
            <a:avLst>
              <a:gd name="adj1" fmla="val 50893"/>
              <a:gd name="adj2" fmla="val -505"/>
              <a:gd name="adj3" fmla="val 24149"/>
              <a:gd name="adj4" fmla="val -17130"/>
            </a:avLst>
          </a:prstGeom>
          <a:ln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thead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 and 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tfoot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  <a:b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may be used for </a:t>
            </a:r>
            <a:r>
              <a:rPr lang="en-GB" sz="1400" dirty="0" err="1">
                <a:solidFill>
                  <a:srgbClr val="000000"/>
                </a:solidFill>
                <a:latin typeface="Verdana" panose="020B0604030504040204" pitchFamily="34" charset="0"/>
              </a:rPr>
              <a:t>css</a:t>
            </a:r>
            <a:endParaRPr lang="en-GB" sz="1400" dirty="0"/>
          </a:p>
        </p:txBody>
      </p:sp>
      <p:sp>
        <p:nvSpPr>
          <p:cNvPr id="12" name="Oval 11">
            <a:hlinkClick r:id="rId3" action="ppaction://hlinkfile"/>
            <a:extLst>
              <a:ext uri="{FF2B5EF4-FFF2-40B4-BE49-F238E27FC236}">
                <a16:creationId xmlns:a16="http://schemas.microsoft.com/office/drawing/2014/main" id="{C7E3A7CD-C790-7F9E-8B4A-17C39A4F9D7B}"/>
              </a:ext>
            </a:extLst>
          </p:cNvPr>
          <p:cNvSpPr/>
          <p:nvPr/>
        </p:nvSpPr>
        <p:spPr>
          <a:xfrm>
            <a:off x="10383012" y="6099296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3FE21F-8DEB-B157-83F4-70783C836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154" y="2089953"/>
            <a:ext cx="3258857" cy="18430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F355732-9FE0-CAC0-4DB8-938F00B21B50}"/>
              </a:ext>
            </a:extLst>
          </p:cNvPr>
          <p:cNvSpPr/>
          <p:nvPr/>
        </p:nvSpPr>
        <p:spPr>
          <a:xfrm>
            <a:off x="819989" y="1513648"/>
            <a:ext cx="5428781" cy="107744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DBA3CE-9BC4-28B4-7351-652374CE33CB}"/>
              </a:ext>
            </a:extLst>
          </p:cNvPr>
          <p:cNvSpPr/>
          <p:nvPr/>
        </p:nvSpPr>
        <p:spPr>
          <a:xfrm>
            <a:off x="840241" y="4702183"/>
            <a:ext cx="3910663" cy="149871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749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Controls for inputting and selecting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="___"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Other attributes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min, max   	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autocomplete	</a:t>
            </a: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off/on 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spellcheck	</a:t>
            </a: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true/false</a:t>
            </a:r>
          </a:p>
          <a:p>
            <a:pPr marL="641350" lvl="4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maxlength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placeholder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disabled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8A3690-CD5B-4ACE-A7B2-99D2617BF97F}"/>
              </a:ext>
            </a:extLst>
          </p:cNvPr>
          <p:cNvSpPr txBox="1"/>
          <p:nvPr/>
        </p:nvSpPr>
        <p:spPr>
          <a:xfrm>
            <a:off x="3048885" y="4810385"/>
            <a:ext cx="8808903" cy="954107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="number"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min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="1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="50"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="type a number (1-50)"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maxlength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="10"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="type password (1-10)"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required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="type your name"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spellcheck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="false"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autocomplete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="off"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disabled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OK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1B4408-0756-40C2-A83E-8A054BBB1FD3}"/>
              </a:ext>
            </a:extLst>
          </p:cNvPr>
          <p:cNvSpPr/>
          <p:nvPr/>
        </p:nvSpPr>
        <p:spPr>
          <a:xfrm>
            <a:off x="3687099" y="1524002"/>
            <a:ext cx="5525728" cy="1494503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text 	number 	email 	URL 	password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date 	datetime 	time 	day	month 	week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submit	reset		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087C1BB-E8EF-4905-865D-059296401BD5}"/>
              </a:ext>
            </a:extLst>
          </p:cNvPr>
          <p:cNvSpPr/>
          <p:nvPr/>
        </p:nvSpPr>
        <p:spPr>
          <a:xfrm>
            <a:off x="2566735" y="1956618"/>
            <a:ext cx="1041702" cy="600587"/>
          </a:xfrm>
          <a:custGeom>
            <a:avLst/>
            <a:gdLst>
              <a:gd name="connsiteX0" fmla="*/ 19148 w 1041702"/>
              <a:gd name="connsiteY0" fmla="*/ 0 h 600587"/>
              <a:gd name="connsiteX1" fmla="*/ 137135 w 1041702"/>
              <a:gd name="connsiteY1" fmla="*/ 521110 h 600587"/>
              <a:gd name="connsiteX2" fmla="*/ 1041702 w 1041702"/>
              <a:gd name="connsiteY2" fmla="*/ 589935 h 60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1702" h="600587">
                <a:moveTo>
                  <a:pt x="19148" y="0"/>
                </a:moveTo>
                <a:cubicBezTo>
                  <a:pt x="-7072" y="211394"/>
                  <a:pt x="-33291" y="422788"/>
                  <a:pt x="137135" y="521110"/>
                </a:cubicBezTo>
                <a:cubicBezTo>
                  <a:pt x="307561" y="619432"/>
                  <a:pt x="674631" y="604683"/>
                  <a:pt x="1041702" y="589935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hlinkClick r:id="rId3" action="ppaction://hlinkfile"/>
            <a:extLst>
              <a:ext uri="{FF2B5EF4-FFF2-40B4-BE49-F238E27FC236}">
                <a16:creationId xmlns:a16="http://schemas.microsoft.com/office/drawing/2014/main" id="{D654F8F5-EBB6-9D55-B4B6-06994235BDE9}"/>
              </a:ext>
            </a:extLst>
          </p:cNvPr>
          <p:cNvSpPr/>
          <p:nvPr/>
        </p:nvSpPr>
        <p:spPr>
          <a:xfrm>
            <a:off x="10383012" y="6099296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67563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4B69F7-779F-418B-9987-14F1786A86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CSS Selectors</a:t>
            </a:r>
            <a:endParaRPr lang="en-IN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9662BF-5EE9-4D76-B077-72C8FB62A1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8146" y="579549"/>
            <a:ext cx="5763653" cy="4591000"/>
          </a:xfrm>
        </p:spPr>
        <p:txBody>
          <a:bodyPr wrap="square">
            <a:spAutoFit/>
          </a:bodyPr>
          <a:lstStyle/>
          <a:p>
            <a:pPr marL="342900" indent="-342900"/>
            <a:r>
              <a:rPr lang="en-GB" b="1" dirty="0">
                <a:latin typeface="+mn-lt"/>
              </a:rPr>
              <a:t>CSS consists of selectors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The selector chooses the elements 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You can then change attributes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b="1" dirty="0">
                <a:latin typeface="+mn-lt"/>
              </a:rPr>
              <a:t>Selectors are based on: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The </a:t>
            </a:r>
            <a:r>
              <a:rPr lang="en-GB" b="1" dirty="0">
                <a:latin typeface="+mn-lt"/>
              </a:rPr>
              <a:t>name</a:t>
            </a:r>
            <a:r>
              <a:rPr lang="en-GB" dirty="0">
                <a:latin typeface="+mn-lt"/>
              </a:rPr>
              <a:t> of the tag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The </a:t>
            </a:r>
            <a:r>
              <a:rPr lang="en-GB" b="1" dirty="0">
                <a:latin typeface="+mn-lt"/>
              </a:rPr>
              <a:t>id</a:t>
            </a:r>
            <a:r>
              <a:rPr lang="en-GB" dirty="0">
                <a:latin typeface="+mn-lt"/>
              </a:rPr>
              <a:t> of the tag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The </a:t>
            </a:r>
            <a:r>
              <a:rPr lang="en-GB" dirty="0" err="1">
                <a:latin typeface="+mn-lt"/>
              </a:rPr>
              <a:t>css</a:t>
            </a:r>
            <a:r>
              <a:rPr lang="en-GB" dirty="0">
                <a:latin typeface="+mn-lt"/>
              </a:rPr>
              <a:t> </a:t>
            </a:r>
            <a:r>
              <a:rPr lang="en-GB" b="1" dirty="0">
                <a:latin typeface="+mn-lt"/>
              </a:rPr>
              <a:t>class </a:t>
            </a:r>
            <a:r>
              <a:rPr lang="en-GB" dirty="0">
                <a:latin typeface="+mn-lt"/>
              </a:rPr>
              <a:t>of the tag</a:t>
            </a:r>
          </a:p>
          <a:p>
            <a:pPr indent="-342900"/>
            <a:endParaRPr lang="en-GB" b="1" dirty="0">
              <a:solidFill>
                <a:srgbClr val="F3622C"/>
              </a:solidFill>
              <a:latin typeface="+mn-lt"/>
            </a:endParaRPr>
          </a:p>
          <a:p>
            <a:pPr indent="-342900"/>
            <a:r>
              <a:rPr lang="en-GB" b="1" dirty="0">
                <a:solidFill>
                  <a:srgbClr val="F3622C"/>
                </a:solidFill>
                <a:latin typeface="+mn-lt"/>
              </a:rPr>
              <a:t>Write a few of these selectors.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How many ways do you know of to join items together within a selector?</a:t>
            </a:r>
          </a:p>
          <a:p>
            <a:pPr marL="342900" indent="-342900">
              <a:buChar char="•"/>
            </a:pPr>
            <a:endParaRPr lang="en-IN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1496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Selectors – A few examples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532C61-39D3-EECF-DDE2-98168EF266F8}"/>
              </a:ext>
            </a:extLst>
          </p:cNvPr>
          <p:cNvSpPr txBox="1"/>
          <p:nvPr/>
        </p:nvSpPr>
        <p:spPr>
          <a:xfrm>
            <a:off x="339971" y="1177865"/>
            <a:ext cx="5773378" cy="353943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QA Training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.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qaClass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lightblue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font-size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x-large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#qaCourse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yellow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1px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solid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green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	   text-align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9A1CD-5FDE-F8F4-27E0-26A934EFE386}"/>
              </a:ext>
            </a:extLst>
          </p:cNvPr>
          <p:cNvSpPr txBox="1"/>
          <p:nvPr/>
        </p:nvSpPr>
        <p:spPr>
          <a:xfrm>
            <a:off x="4469228" y="4200438"/>
            <a:ext cx="4726400" cy="24622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qaClass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QA Training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qaCourse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Web Development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Trainer: Bob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Students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ol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Steve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Linda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Russell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ol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0407844-1523-27E6-2ED5-BB6396AB6EE2}"/>
              </a:ext>
            </a:extLst>
          </p:cNvPr>
          <p:cNvCxnSpPr>
            <a:cxnSpLocks/>
          </p:cNvCxnSpPr>
          <p:nvPr/>
        </p:nvCxnSpPr>
        <p:spPr>
          <a:xfrm flipV="1">
            <a:off x="4541520" y="1524000"/>
            <a:ext cx="1162050" cy="694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8FBBC6-BECF-13FF-068F-FC3D1DA13049}"/>
              </a:ext>
            </a:extLst>
          </p:cNvPr>
          <p:cNvCxnSpPr>
            <a:cxnSpLocks/>
          </p:cNvCxnSpPr>
          <p:nvPr/>
        </p:nvCxnSpPr>
        <p:spPr>
          <a:xfrm flipV="1">
            <a:off x="4033520" y="1859280"/>
            <a:ext cx="1634588" cy="992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6EAB12-82C3-475B-1A9E-876DD3345467}"/>
              </a:ext>
            </a:extLst>
          </p:cNvPr>
          <p:cNvCxnSpPr>
            <a:cxnSpLocks/>
          </p:cNvCxnSpPr>
          <p:nvPr/>
        </p:nvCxnSpPr>
        <p:spPr>
          <a:xfrm flipV="1">
            <a:off x="4185920" y="2573530"/>
            <a:ext cx="1482188" cy="987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EB069BF-13F0-D523-7461-E222C478C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0" y="1330007"/>
            <a:ext cx="2552700" cy="24098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3876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Selectors – A few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2F041-80D5-4440-BB33-BFC3161D3C50}"/>
              </a:ext>
            </a:extLst>
          </p:cNvPr>
          <p:cNvSpPr txBox="1"/>
          <p:nvPr/>
        </p:nvSpPr>
        <p:spPr>
          <a:xfrm>
            <a:off x="196300" y="1417967"/>
            <a:ext cx="5899700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QA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Paragraph text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some text in a 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="div1"&gt;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 with id=div1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="note"&gt;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 with class=note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 contained in a 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 NOT contained in a 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7E709-927C-4958-A2F5-55B58FBA7AAF}"/>
              </a:ext>
            </a:extLst>
          </p:cNvPr>
          <p:cNvSpPr txBox="1"/>
          <p:nvPr/>
        </p:nvSpPr>
        <p:spPr>
          <a:xfrm>
            <a:off x="6301409" y="1119525"/>
            <a:ext cx="5555978" cy="50783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GB" sz="18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1px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dashed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black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box-shadow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gray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padding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10px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lightgreen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b="1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*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20%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div:hover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yellow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80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2C1B11-51AC-2D7B-B030-AEC2695DF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73323C-ECDB-706E-A239-AA6D639C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font colour, size, style and background colour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740150-8091-BDC7-52BC-D8608FC1AE88}"/>
              </a:ext>
            </a:extLst>
          </p:cNvPr>
          <p:cNvSpPr txBox="1"/>
          <p:nvPr/>
        </p:nvSpPr>
        <p:spPr>
          <a:xfrm>
            <a:off x="544511" y="1344703"/>
            <a:ext cx="7937835" cy="52629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lang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en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QA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background-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blue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font-family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Arial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sans-serif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.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custom-text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white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 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font-size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20px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font-style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italic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background-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grey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fit-content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="custom-text"&gt;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Styled with custom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css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608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2ED152-88F0-EE14-89D4-E40223CB8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78E6BD-F39D-D600-5C5A-61D2A386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+mn-ea"/>
                <a:cs typeface="+mn-cs"/>
              </a:rPr>
              <a:t>margin</a:t>
            </a:r>
            <a:r>
              <a:rPr lang="en-GB" sz="4800" dirty="0"/>
              <a:t> </a:t>
            </a:r>
            <a:r>
              <a:rPr lang="en-GB" dirty="0"/>
              <a:t>and </a:t>
            </a:r>
            <a:r>
              <a:rPr lang="en-GB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+mn-ea"/>
                <a:cs typeface="+mn-cs"/>
              </a:rPr>
              <a:t>padding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/>
              <a:t>properties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ED02E-E699-2979-7BAF-F64C0D6D1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+mn-ea"/>
                <a:cs typeface="+mn-cs"/>
              </a:rPr>
              <a:t>margin</a:t>
            </a:r>
            <a:r>
              <a:rPr lang="en-GB" sz="3200" dirty="0"/>
              <a:t> </a:t>
            </a:r>
            <a:r>
              <a:rPr lang="en-GB" dirty="0"/>
              <a:t>controls the space outside an element</a:t>
            </a:r>
          </a:p>
          <a:p>
            <a:r>
              <a:rPr lang="en-GB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+mn-ea"/>
                <a:cs typeface="+mn-cs"/>
              </a:rPr>
              <a:t>Padding</a:t>
            </a:r>
            <a:r>
              <a:rPr lang="en-GB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GB" dirty="0"/>
              <a:t>controls the space inside. Let's see and example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CB4190-2AF4-E40E-16E2-98B4D7069533}"/>
              </a:ext>
            </a:extLst>
          </p:cNvPr>
          <p:cNvGrpSpPr/>
          <p:nvPr/>
        </p:nvGrpSpPr>
        <p:grpSpPr>
          <a:xfrm>
            <a:off x="6410960" y="2984238"/>
            <a:ext cx="4936275" cy="3091442"/>
            <a:chOff x="6350000" y="2750558"/>
            <a:chExt cx="5505235" cy="328448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C03374-3072-FC6C-A255-2AD7594B0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28474" y="2750558"/>
              <a:ext cx="4826761" cy="32844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1B0F364-CDD9-40C0-1859-7C34BFEB63E6}"/>
                </a:ext>
              </a:extLst>
            </p:cNvPr>
            <p:cNvCxnSpPr/>
            <p:nvPr/>
          </p:nvCxnSpPr>
          <p:spPr>
            <a:xfrm>
              <a:off x="7112000" y="4897120"/>
              <a:ext cx="3048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78E8503-3582-8644-8719-937BABFB46EF}"/>
                </a:ext>
              </a:extLst>
            </p:cNvPr>
            <p:cNvCxnSpPr/>
            <p:nvPr/>
          </p:nvCxnSpPr>
          <p:spPr>
            <a:xfrm>
              <a:off x="7417156" y="5212080"/>
              <a:ext cx="40568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A30B63D-24EA-3055-FB59-45B1B06B6163}"/>
                </a:ext>
              </a:extLst>
            </p:cNvPr>
            <p:cNvSpPr txBox="1"/>
            <p:nvPr/>
          </p:nvSpPr>
          <p:spPr>
            <a:xfrm>
              <a:off x="6350000" y="4790441"/>
              <a:ext cx="721360" cy="20827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/>
              <a:r>
                <a:rPr lang="en-GB" sz="1400" dirty="0"/>
                <a:t>Margin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951FE8-7412-AAFB-05A2-66E7666F9C32}"/>
                </a:ext>
              </a:extLst>
            </p:cNvPr>
            <p:cNvSpPr txBox="1"/>
            <p:nvPr/>
          </p:nvSpPr>
          <p:spPr>
            <a:xfrm>
              <a:off x="6563360" y="5125721"/>
              <a:ext cx="853796" cy="2082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rtlCol="0" anchor="t" anchorCtr="0">
              <a:normAutofit/>
            </a:bodyPr>
            <a:lstStyle/>
            <a:p>
              <a:pPr algn="l"/>
              <a:r>
                <a:rPr lang="en-GB" sz="1200" dirty="0"/>
                <a:t>Padding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11623E1-0E6D-CFC5-EE0C-C5313B0444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0400" y="4282441"/>
              <a:ext cx="0" cy="25907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E8291CB-1E46-F687-6440-5E92BA04D5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0560" y="5684521"/>
              <a:ext cx="0" cy="25907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5757C09-574D-C673-C978-8736F3D910DF}"/>
                </a:ext>
              </a:extLst>
            </p:cNvPr>
            <p:cNvCxnSpPr/>
            <p:nvPr/>
          </p:nvCxnSpPr>
          <p:spPr>
            <a:xfrm>
              <a:off x="11480800" y="4907280"/>
              <a:ext cx="3048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A0CA048-830D-0B64-9B84-98390EDF6B02}"/>
              </a:ext>
            </a:extLst>
          </p:cNvPr>
          <p:cNvSpPr txBox="1"/>
          <p:nvPr/>
        </p:nvSpPr>
        <p:spPr>
          <a:xfrm>
            <a:off x="365760" y="2476927"/>
            <a:ext cx="2865120" cy="14465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.hr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margin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20px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padding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30px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A4994C-C5BF-C88E-31A1-8A4AD9E5B02C}"/>
              </a:ext>
            </a:extLst>
          </p:cNvPr>
          <p:cNvSpPr txBox="1"/>
          <p:nvPr/>
        </p:nvSpPr>
        <p:spPr>
          <a:xfrm>
            <a:off x="2418081" y="3710692"/>
            <a:ext cx="3637280" cy="2677656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QA Training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data1: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="hr"&gt;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data2: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141932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F660B-5716-6988-1E59-755621AA0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5DA4E0-877A-5A50-8B89-50C82F17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Text, font CSS properties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DEE9A-A653-6154-D97D-D5234CF2DB27}"/>
              </a:ext>
            </a:extLst>
          </p:cNvPr>
          <p:cNvSpPr txBox="1"/>
          <p:nvPr/>
        </p:nvSpPr>
        <p:spPr>
          <a:xfrm>
            <a:off x="182879" y="1263540"/>
            <a:ext cx="11859025" cy="28007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="centre"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b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 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  <a:hlinkClick r:id="rId2"/>
              </a:rPr>
              <a:t>https://www.qa.com/media/iuzn2ohj/qa-award.png?width=608&amp;height=320&amp;rnd=133941195704470000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="Award logo" 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="greeting"&gt;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Hello World!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A83ADE-2AAA-3349-FCB7-5BC713E5CF61}"/>
              </a:ext>
            </a:extLst>
          </p:cNvPr>
          <p:cNvSpPr txBox="1"/>
          <p:nvPr/>
        </p:nvSpPr>
        <p:spPr>
          <a:xfrm>
            <a:off x="6829585" y="2651108"/>
            <a:ext cx="4628269" cy="3970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solid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blue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box-shadow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3px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3px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3px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grey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50%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margin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5px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.greeting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font-family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Algerian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blue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.centre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block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margin-left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margin-right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14BF52D0-C2DB-0325-0593-A79C677D3C6A}"/>
              </a:ext>
            </a:extLst>
          </p:cNvPr>
          <p:cNvSpPr/>
          <p:nvPr/>
        </p:nvSpPr>
        <p:spPr>
          <a:xfrm>
            <a:off x="10141746" y="5672982"/>
            <a:ext cx="883920" cy="491380"/>
          </a:xfrm>
          <a:prstGeom prst="wedgeRoundRectCallout">
            <a:avLst>
              <a:gd name="adj1" fmla="val -63350"/>
              <a:gd name="adj2" fmla="val 30215"/>
              <a:gd name="adj3" fmla="val 16667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Centre image</a:t>
            </a:r>
            <a:endParaRPr lang="en-GB" sz="1600" b="1" dirty="0">
              <a:solidFill>
                <a:schemeClr val="tx1"/>
              </a:solidFill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F7AB3FCF-E45F-651D-11D1-8BA2F93F4172}"/>
              </a:ext>
            </a:extLst>
          </p:cNvPr>
          <p:cNvSpPr/>
          <p:nvPr/>
        </p:nvSpPr>
        <p:spPr>
          <a:xfrm>
            <a:off x="10436385" y="4392822"/>
            <a:ext cx="1259841" cy="596110"/>
          </a:xfrm>
          <a:prstGeom prst="wedgeRoundRectCallout">
            <a:avLst>
              <a:gd name="adj1" fmla="val -63350"/>
              <a:gd name="adj2" fmla="val 30215"/>
              <a:gd name="adj3" fmla="val 16667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Set the font and colour</a:t>
            </a:r>
            <a:endParaRPr lang="en-GB" sz="1600" b="1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368593F-33E5-D118-B989-7BAED815AACB}"/>
              </a:ext>
            </a:extLst>
          </p:cNvPr>
          <p:cNvCxnSpPr/>
          <p:nvPr/>
        </p:nvCxnSpPr>
        <p:spPr>
          <a:xfrm flipH="1">
            <a:off x="4318000" y="5397024"/>
            <a:ext cx="2794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233965C8-7242-5816-FFEB-9FB5FF6DACED}"/>
              </a:ext>
            </a:extLst>
          </p:cNvPr>
          <p:cNvSpPr/>
          <p:nvPr/>
        </p:nvSpPr>
        <p:spPr>
          <a:xfrm>
            <a:off x="4074159" y="6295942"/>
            <a:ext cx="2032001" cy="231634"/>
          </a:xfrm>
          <a:prstGeom prst="wedgeRoundRectCallout">
            <a:avLst>
              <a:gd name="adj1" fmla="val -36334"/>
              <a:gd name="adj2" fmla="val -102714"/>
              <a:gd name="adj3" fmla="val 16667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GB" sz="1600" b="1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3BD3B1-5963-F611-5792-CF215C64A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200041"/>
            <a:ext cx="5557454" cy="194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21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- positioning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</p:spPr>
        <p:txBody>
          <a:bodyPr/>
          <a:lstStyle/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" panose="020F0502020204030204" pitchFamily="34" charset="0"/>
              </a:rPr>
              <a:t>Block, inline, inline-block</a:t>
            </a:r>
            <a:endParaRPr lang="en-GB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</a:endParaRPr>
          </a:p>
          <a:p>
            <a:pPr marL="182880">
              <a:spcAft>
                <a:spcPts val="0"/>
              </a:spcAft>
            </a:pPr>
            <a:r>
              <a:rPr lang="en-GB" sz="2400" dirty="0">
                <a:effectLst/>
                <a:latin typeface="Calibri" panose="020F0502020204030204" pitchFamily="34" charset="0"/>
              </a:rPr>
              <a:t>Some elements are </a:t>
            </a:r>
            <a:r>
              <a:rPr lang="en-GB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" panose="020F0502020204030204" pitchFamily="34" charset="0"/>
              </a:rPr>
              <a:t>inline</a:t>
            </a:r>
            <a:r>
              <a:rPr lang="en-GB" sz="2400" dirty="0">
                <a:effectLst/>
                <a:latin typeface="Calibri" panose="020F0502020204030204" pitchFamily="34" charset="0"/>
              </a:rPr>
              <a:t> such as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400" b="1" dirty="0">
              <a:effectLst/>
              <a:latin typeface="Calibri" panose="020F0502020204030204" pitchFamily="34" charset="0"/>
            </a:endParaRPr>
          </a:p>
          <a:p>
            <a:pPr marL="182880">
              <a:spcAft>
                <a:spcPts val="0"/>
              </a:spcAft>
            </a:pPr>
            <a:r>
              <a:rPr lang="en-GB" sz="2400" dirty="0">
                <a:latin typeface="Calibri" panose="020F0502020204030204" pitchFamily="34" charset="0"/>
              </a:rPr>
              <a:t>These naturally flow from left to right like words in a document</a:t>
            </a:r>
            <a:br>
              <a:rPr lang="en-GB" sz="2400" dirty="0">
                <a:latin typeface="Calibri" panose="020F0502020204030204" pitchFamily="34" charset="0"/>
              </a:rPr>
            </a:br>
            <a:endParaRPr lang="en-GB" sz="24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24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2400" dirty="0">
              <a:latin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484BD9-85EA-129D-9806-728658D6F519}"/>
              </a:ext>
            </a:extLst>
          </p:cNvPr>
          <p:cNvSpPr/>
          <p:nvPr/>
        </p:nvSpPr>
        <p:spPr>
          <a:xfrm>
            <a:off x="10312400" y="1794976"/>
            <a:ext cx="1178560" cy="9075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Div1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0FB97-ABB7-66D1-1CC2-92784CA0C1D2}"/>
              </a:ext>
            </a:extLst>
          </p:cNvPr>
          <p:cNvSpPr/>
          <p:nvPr/>
        </p:nvSpPr>
        <p:spPr>
          <a:xfrm>
            <a:off x="10312400" y="2719536"/>
            <a:ext cx="1178560" cy="9075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Div2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D8E575-64B7-FE77-FB2C-0A4C9B048B7C}"/>
              </a:ext>
            </a:extLst>
          </p:cNvPr>
          <p:cNvCxnSpPr/>
          <p:nvPr/>
        </p:nvCxnSpPr>
        <p:spPr>
          <a:xfrm>
            <a:off x="9621520" y="1960880"/>
            <a:ext cx="5384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259B71-21B2-34A8-43E8-E8FA3E175AF7}"/>
              </a:ext>
            </a:extLst>
          </p:cNvPr>
          <p:cNvGrpSpPr/>
          <p:nvPr/>
        </p:nvGrpSpPr>
        <p:grpSpPr>
          <a:xfrm>
            <a:off x="650240" y="4027716"/>
            <a:ext cx="10861040" cy="1846659"/>
            <a:chOff x="650240" y="4027716"/>
            <a:chExt cx="10861040" cy="184665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18B10A7-029A-4AA7-4AAF-3282CB34C0BC}"/>
                </a:ext>
              </a:extLst>
            </p:cNvPr>
            <p:cNvSpPr/>
            <p:nvPr/>
          </p:nvSpPr>
          <p:spPr>
            <a:xfrm>
              <a:off x="9144000" y="4274016"/>
              <a:ext cx="1178560" cy="90758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Div1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7DC39D-F7C5-CDCF-22A7-B02CDB1EA251}"/>
                </a:ext>
              </a:extLst>
            </p:cNvPr>
            <p:cNvSpPr/>
            <p:nvPr/>
          </p:nvSpPr>
          <p:spPr>
            <a:xfrm>
              <a:off x="10332720" y="4274016"/>
              <a:ext cx="1178560" cy="9075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Div2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B39F2D8-1FBA-DC97-B7F4-D188A7956DAA}"/>
                </a:ext>
              </a:extLst>
            </p:cNvPr>
            <p:cNvSpPr txBox="1"/>
            <p:nvPr/>
          </p:nvSpPr>
          <p:spPr>
            <a:xfrm>
              <a:off x="650240" y="4027716"/>
              <a:ext cx="8188960" cy="18466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82880">
                <a:spcAft>
                  <a:spcPts val="0"/>
                </a:spcAft>
              </a:pPr>
              <a:r>
                <a:rPr lang="en-GB" sz="2400" dirty="0">
                  <a:latin typeface="Calibri" panose="020F0502020204030204" pitchFamily="34" charset="0"/>
                </a:rPr>
                <a:t>Some are </a:t>
              </a:r>
              <a:r>
                <a:rPr lang="en-GB" sz="2400" b="1" dirty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  <a:latin typeface="Calibri" panose="020F0502020204030204" pitchFamily="34" charset="0"/>
                </a:rPr>
                <a:t>block</a:t>
              </a:r>
              <a:r>
                <a:rPr lang="en-GB" sz="2400" dirty="0">
                  <a:latin typeface="Calibri" panose="020F0502020204030204" pitchFamily="34" charset="0"/>
                </a:rPr>
                <a:t> elements such as </a:t>
              </a:r>
              <a:r>
                <a:rPr lang="en-GB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&lt;</a:t>
              </a:r>
              <a:r>
                <a:rPr lang="en-GB" sz="2000" b="1" dirty="0">
                  <a:solidFill>
                    <a:srgbClr val="800000"/>
                  </a:solidFill>
                  <a:latin typeface="Consolas" panose="020B0609020204030204" pitchFamily="49" charset="0"/>
                </a:rPr>
                <a:t>div</a:t>
              </a:r>
              <a:r>
                <a:rPr lang="en-GB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&gt;</a:t>
              </a:r>
              <a:r>
                <a:rPr lang="en-GB" sz="20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GB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&lt;</a:t>
              </a:r>
              <a:r>
                <a:rPr lang="en-GB" sz="2000" b="1" dirty="0">
                  <a:solidFill>
                    <a:srgbClr val="800000"/>
                  </a:solidFill>
                  <a:latin typeface="Consolas" panose="020B0609020204030204" pitchFamily="49" charset="0"/>
                </a:rPr>
                <a:t>p</a:t>
              </a:r>
              <a:r>
                <a:rPr lang="en-GB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&gt;</a:t>
              </a:r>
              <a:r>
                <a:rPr lang="en-GB" sz="20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GB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&lt;</a:t>
              </a:r>
              <a:r>
                <a:rPr lang="en-GB" sz="2000" b="1" dirty="0">
                  <a:solidFill>
                    <a:srgbClr val="800000"/>
                  </a:solidFill>
                  <a:latin typeface="Consolas" panose="020B0609020204030204" pitchFamily="49" charset="0"/>
                </a:rPr>
                <a:t>h</a:t>
              </a:r>
              <a:r>
                <a:rPr lang="en-GB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&gt;</a:t>
              </a:r>
              <a:r>
                <a:rPr lang="en-GB" sz="20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GB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&lt;</a:t>
              </a:r>
              <a:r>
                <a:rPr lang="en-GB" sz="2000" b="1" dirty="0" err="1">
                  <a:solidFill>
                    <a:srgbClr val="800000"/>
                  </a:solidFill>
                  <a:latin typeface="Consolas" panose="020B0609020204030204" pitchFamily="49" charset="0"/>
                </a:rPr>
                <a:t>ol</a:t>
              </a:r>
              <a:r>
                <a:rPr lang="en-GB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&gt;</a:t>
              </a:r>
              <a:r>
                <a:rPr lang="en-GB" sz="20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GB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&lt;</a:t>
              </a:r>
              <a:r>
                <a:rPr lang="en-GB" sz="2000" b="1" dirty="0" err="1">
                  <a:solidFill>
                    <a:srgbClr val="800000"/>
                  </a:solidFill>
                  <a:latin typeface="Consolas" panose="020B0609020204030204" pitchFamily="49" charset="0"/>
                </a:rPr>
                <a:t>ul</a:t>
              </a:r>
              <a:r>
                <a:rPr lang="en-GB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&gt;</a:t>
              </a:r>
              <a:endParaRPr lang="en-GB" sz="2400" b="1" dirty="0">
                <a:latin typeface="Calibri" panose="020F0502020204030204" pitchFamily="34" charset="0"/>
              </a:endParaRPr>
            </a:p>
            <a:p>
              <a:pPr marL="18288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 dirty="0">
                  <a:latin typeface="Calibri" panose="020F0502020204030204" pitchFamily="34" charset="0"/>
                </a:rPr>
                <a:t>Use the </a:t>
              </a:r>
              <a:r>
                <a:rPr lang="en-GB" sz="2400" b="1" dirty="0">
                  <a:solidFill>
                    <a:srgbClr val="C00000"/>
                  </a:solidFill>
                  <a:latin typeface="Calibri" panose="020F0502020204030204" pitchFamily="34" charset="0"/>
                </a:rPr>
                <a:t>float</a:t>
              </a:r>
              <a:r>
                <a:rPr lang="en-GB" sz="2400" dirty="0">
                  <a:latin typeface="Calibri" panose="020F0502020204030204" pitchFamily="34" charset="0"/>
                </a:rPr>
                <a:t> and </a:t>
              </a:r>
              <a:r>
                <a:rPr lang="en-GB" sz="2400" b="1" dirty="0">
                  <a:solidFill>
                    <a:srgbClr val="C00000"/>
                  </a:solidFill>
                  <a:latin typeface="Calibri" panose="020F0502020204030204" pitchFamily="34" charset="0"/>
                </a:rPr>
                <a:t>clear</a:t>
              </a:r>
              <a:r>
                <a:rPr lang="en-GB" sz="2400" dirty="0">
                  <a:latin typeface="Calibri" panose="020F0502020204030204" pitchFamily="34" charset="0"/>
                </a:rPr>
                <a:t> properties for positioning</a:t>
              </a:r>
            </a:p>
            <a:p>
              <a:pPr marL="182880" marR="0">
                <a:spcBef>
                  <a:spcPts val="0"/>
                </a:spcBef>
                <a:spcAft>
                  <a:spcPts val="0"/>
                </a:spcAft>
              </a:pPr>
              <a:endParaRPr lang="en-GB" sz="2400" dirty="0">
                <a:latin typeface="Calibri" panose="020F0502020204030204" pitchFamily="34" charset="0"/>
              </a:endParaRPr>
            </a:p>
            <a:p>
              <a:pPr marL="18288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000" dirty="0">
                  <a:latin typeface="Calibri" panose="020F0502020204030204" pitchFamily="34" charset="0"/>
                </a:rPr>
                <a:t>See the next page for an example</a:t>
              </a:r>
              <a:endParaRPr lang="en-GB" sz="2400" dirty="0">
                <a:latin typeface="Calibri" panose="020F0502020204030204" pitchFamily="34" charset="0"/>
              </a:endParaRPr>
            </a:p>
            <a:p>
              <a:pPr marL="182880" marR="0">
                <a:spcBef>
                  <a:spcPts val="0"/>
                </a:spcBef>
                <a:spcAft>
                  <a:spcPts val="0"/>
                </a:spcAft>
              </a:pPr>
              <a:endParaRPr lang="en-GB" sz="1800" dirty="0">
                <a:effectLst/>
                <a:latin typeface="Calibri" panose="020F0502020204030204" pitchFamily="34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FF49357-6144-AD2D-D9C1-3252227E0736}"/>
                </a:ext>
              </a:extLst>
            </p:cNvPr>
            <p:cNvCxnSpPr/>
            <p:nvPr/>
          </p:nvCxnSpPr>
          <p:spPr>
            <a:xfrm>
              <a:off x="8544560" y="4460240"/>
              <a:ext cx="53848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142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1C44D8E-D72B-2794-DBDB-259E4E542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684" y="3724175"/>
            <a:ext cx="4262127" cy="161253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D1AFC2-162F-AF36-1363-E67CC639F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8B5BD8-781B-A052-E451-45BEC3194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 and clear properties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6C3CAC-1D72-1129-FB8F-DB09FC8FA0BE}"/>
              </a:ext>
            </a:extLst>
          </p:cNvPr>
          <p:cNvSpPr txBox="1"/>
          <p:nvPr/>
        </p:nvSpPr>
        <p:spPr>
          <a:xfrm>
            <a:off x="5030272" y="1394053"/>
            <a:ext cx="5112352" cy="181588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Float left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Float left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Float left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="free"&gt;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Style - clear: left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Float left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AA6FF-0C07-7A86-19E4-B6FFCDD7ACAD}"/>
              </a:ext>
            </a:extLst>
          </p:cNvPr>
          <p:cNvSpPr txBox="1"/>
          <p:nvPr/>
        </p:nvSpPr>
        <p:spPr>
          <a:xfrm>
            <a:off x="579120" y="1394053"/>
            <a:ext cx="4328160" cy="44012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!DOCTYPE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html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meta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charset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="utf-8"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QA Training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200px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100px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margin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5px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padding-top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10px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background-</a:t>
            </a:r>
            <a:r>
              <a:rPr lang="en-GB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aqua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left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.free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clear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left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8EBED75-1764-E73F-89A6-87A3C2A173F9}"/>
              </a:ext>
            </a:extLst>
          </p:cNvPr>
          <p:cNvSpPr/>
          <p:nvPr/>
        </p:nvSpPr>
        <p:spPr>
          <a:xfrm>
            <a:off x="339971" y="4156402"/>
            <a:ext cx="883920" cy="491380"/>
          </a:xfrm>
          <a:prstGeom prst="wedgeRoundRectCallout">
            <a:avLst>
              <a:gd name="adj1" fmla="val 83777"/>
              <a:gd name="adj2" fmla="val -9071"/>
              <a:gd name="adj3" fmla="val 16667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float inline</a:t>
            </a:r>
            <a:endParaRPr lang="en-GB" sz="1600" b="1" dirty="0">
              <a:solidFill>
                <a:schemeClr val="tx1"/>
              </a:solidFill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8D9CE1B-DB5D-30A2-DE8F-9E2A3360E2FB}"/>
              </a:ext>
            </a:extLst>
          </p:cNvPr>
          <p:cNvSpPr/>
          <p:nvPr/>
        </p:nvSpPr>
        <p:spPr>
          <a:xfrm>
            <a:off x="3403334" y="4715810"/>
            <a:ext cx="883920" cy="491380"/>
          </a:xfrm>
          <a:prstGeom prst="wedgeRoundRectCallout">
            <a:avLst>
              <a:gd name="adj1" fmla="val -74844"/>
              <a:gd name="adj2" fmla="val 50891"/>
              <a:gd name="adj3" fmla="val 16667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Break free!</a:t>
            </a:r>
            <a:endParaRPr lang="en-GB" sz="1600" b="1" dirty="0">
              <a:solidFill>
                <a:schemeClr val="tx1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C56F6EA6-5E29-B368-266C-B9DFE9BA8783}"/>
              </a:ext>
            </a:extLst>
          </p:cNvPr>
          <p:cNvSpPr/>
          <p:nvPr/>
        </p:nvSpPr>
        <p:spPr>
          <a:xfrm>
            <a:off x="5293359" y="5038868"/>
            <a:ext cx="1605281" cy="491380"/>
          </a:xfrm>
          <a:prstGeom prst="wedgeRoundRectCallout">
            <a:avLst>
              <a:gd name="adj1" fmla="val 65386"/>
              <a:gd name="adj2" fmla="val -33883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Not stuck to the first 3 </a:t>
            </a:r>
            <a:r>
              <a:rPr lang="en-GB" sz="1200" b="1" dirty="0" err="1">
                <a:solidFill>
                  <a:schemeClr val="tx1"/>
                </a:solidFill>
              </a:rPr>
              <a:t>divs</a:t>
            </a:r>
            <a:endParaRPr lang="en-GB" sz="1600" b="1" dirty="0">
              <a:solidFill>
                <a:schemeClr val="tx1"/>
              </a:solidFill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82B01FC1-1EB4-2019-FFFD-74D01382D0A6}"/>
              </a:ext>
            </a:extLst>
          </p:cNvPr>
          <p:cNvSpPr/>
          <p:nvPr/>
        </p:nvSpPr>
        <p:spPr>
          <a:xfrm>
            <a:off x="9439530" y="5303878"/>
            <a:ext cx="1605281" cy="491380"/>
          </a:xfrm>
          <a:prstGeom prst="wedgeRoundRectCallout">
            <a:avLst>
              <a:gd name="adj1" fmla="val -51070"/>
              <a:gd name="adj2" fmla="val -77304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This </a:t>
            </a:r>
            <a:r>
              <a:rPr lang="en-GB" sz="1200" b="1" dirty="0" err="1">
                <a:solidFill>
                  <a:schemeClr val="tx1"/>
                </a:solidFill>
              </a:rPr>
              <a:t>Div</a:t>
            </a:r>
            <a:r>
              <a:rPr lang="en-GB" sz="1200" b="1" dirty="0">
                <a:solidFill>
                  <a:schemeClr val="tx1"/>
                </a:solidFill>
              </a:rPr>
              <a:t> still floats inline</a:t>
            </a:r>
            <a:endParaRPr lang="en-GB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614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D6C36F-9DD1-F786-02D1-437E22F1A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ECA42E-CB2F-A4C1-2D3D-DE1FBA5B4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 and clear – more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28EF39-71DB-AA17-D08F-9EF2AD5A4A4B}"/>
              </a:ext>
            </a:extLst>
          </p:cNvPr>
          <p:cNvSpPr txBox="1"/>
          <p:nvPr/>
        </p:nvSpPr>
        <p:spPr>
          <a:xfrm>
            <a:off x="233680" y="1470531"/>
            <a:ext cx="10932160" cy="43088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right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200px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100px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margin-left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20px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1px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solid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red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="team.jpg"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="QA Team"&gt;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Lorem ipsum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dolor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sit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amet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consectetur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adipiscing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elit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.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Phasellus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imperdiet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nulla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et dictum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interdum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, nisi lorem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egestas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odio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, vitae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scelerisque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enim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ligula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venenatis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dolor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. Maecenas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nisl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est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ultrices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nec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congue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eget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, auctor vitae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massa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.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Fusce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luctus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vestibulum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augue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aliquet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.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Mauris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ante ligula,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facilisis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sed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ornare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eu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lobortis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in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odio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.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Praesent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convallis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urna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lacus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interdum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hendrerit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risus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congue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. Nunc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sagittis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dictum nisi,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sed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ullamcorper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ipsum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dignissim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ac. In at libero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sed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nunc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venenatis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imperdiet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sed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ornare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turpis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. Donec vitae dui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eget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tellus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gravida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venenatis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. Integer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fringilla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congue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eros non fermentum.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Sed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dapibus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pulvinar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nibh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tempor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porta. Cras ac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leo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purus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.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Mauris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quis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diam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velit</a:t>
            </a:r>
            <a:r>
              <a:rPr lang="en-GB" sz="105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C360D6-799D-19EA-2A04-F50EAD698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062" y="1831022"/>
            <a:ext cx="6134100" cy="1590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4D6D65D9-E23F-A886-B4C1-6551FFC146DF}"/>
              </a:ext>
            </a:extLst>
          </p:cNvPr>
          <p:cNvSpPr/>
          <p:nvPr/>
        </p:nvSpPr>
        <p:spPr>
          <a:xfrm>
            <a:off x="3606800" y="2272140"/>
            <a:ext cx="1554479" cy="745380"/>
          </a:xfrm>
          <a:prstGeom prst="wedgeRoundRectCallout">
            <a:avLst>
              <a:gd name="adj1" fmla="val -63350"/>
              <a:gd name="adj2" fmla="val 30215"/>
              <a:gd name="adj3" fmla="val 16667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Place image on the right With text around</a:t>
            </a:r>
            <a:endParaRPr lang="en-GB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618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B8D072-A7DD-DEE5-37D2-2E131DCAE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F1AC30-7C6A-E220-2B56-ACFE070B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 elements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329C6-9053-644A-FB3E-CC690A4B920F}"/>
              </a:ext>
            </a:extLst>
          </p:cNvPr>
          <p:cNvSpPr txBox="1"/>
          <p:nvPr/>
        </p:nvSpPr>
        <p:spPr>
          <a:xfrm>
            <a:off x="6678767" y="1317631"/>
            <a:ext cx="5134477" cy="11695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="box fixed-box"&gt;&lt;/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="box absolute-box"&gt;&lt;/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b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="wrapper"&gt;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="box relative-box"&gt;&lt;/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 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9B275B-2C77-3F2B-4750-52FF630ACDF8}"/>
              </a:ext>
            </a:extLst>
          </p:cNvPr>
          <p:cNvSpPr txBox="1"/>
          <p:nvPr/>
        </p:nvSpPr>
        <p:spPr>
          <a:xfrm>
            <a:off x="378756" y="1294859"/>
            <a:ext cx="3049003" cy="28931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.wrapper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position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relative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background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cyan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2300px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margin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100px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.relative-box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position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relative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top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50px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left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20px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background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darkred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073347-FA1A-13A9-64B2-C6BC0C107719}"/>
              </a:ext>
            </a:extLst>
          </p:cNvPr>
          <p:cNvSpPr txBox="1"/>
          <p:nvPr/>
        </p:nvSpPr>
        <p:spPr>
          <a:xfrm>
            <a:off x="3550768" y="1294860"/>
            <a:ext cx="3049003" cy="483209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.absolute-box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position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absolute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top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50px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90px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background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darkblue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.fixed-box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position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fixed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top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20px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200px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background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darkgreen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z-index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.box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220px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100px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white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padding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5px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5" name="Oval 4">
            <a:hlinkClick r:id="rId2" action="ppaction://hlinkfile"/>
            <a:extLst>
              <a:ext uri="{FF2B5EF4-FFF2-40B4-BE49-F238E27FC236}">
                <a16:creationId xmlns:a16="http://schemas.microsoft.com/office/drawing/2014/main" id="{921B8D76-DF61-F404-57FD-967557BF2237}"/>
              </a:ext>
            </a:extLst>
          </p:cNvPr>
          <p:cNvSpPr/>
          <p:nvPr/>
        </p:nvSpPr>
        <p:spPr>
          <a:xfrm>
            <a:off x="10897330" y="5879966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16021F-350B-FA89-3E2C-128E57609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114" y="2898699"/>
            <a:ext cx="5148614" cy="2058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9789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5CDF92-2DE1-4668-A80B-4D54096FF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EB78BA-03BA-461B-AA4E-0B0ADAD6A0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8147" y="579549"/>
            <a:ext cx="5436128" cy="5899039"/>
          </a:xfrm>
        </p:spPr>
        <p:txBody>
          <a:bodyPr anchor="ctr" anchorCtr="0"/>
          <a:lstStyle/>
          <a:p>
            <a:r>
              <a:rPr lang="en-GB" b="1" dirty="0"/>
              <a:t>In this chapter, you:</a:t>
            </a:r>
          </a:p>
          <a:p>
            <a:pPr marL="342000" lvl="1" indent="-342000">
              <a:spcAft>
                <a:spcPts val="650"/>
              </a:spcAft>
              <a:buSzPct val="115000"/>
            </a:pPr>
            <a:endParaRPr lang="en-GB" dirty="0"/>
          </a:p>
          <a:p>
            <a:pPr marL="342000" lvl="1" indent="-342000">
              <a:spcAft>
                <a:spcPts val="650"/>
              </a:spcAft>
              <a:buSzPct val="115000"/>
            </a:pPr>
            <a:r>
              <a:rPr lang="en-GB" dirty="0"/>
              <a:t>Revised the </a:t>
            </a:r>
            <a:r>
              <a:rPr lang="en-GB" b="1" dirty="0"/>
              <a:t>HTML</a:t>
            </a:r>
            <a:r>
              <a:rPr lang="en-GB" dirty="0"/>
              <a:t> you learned on the pre-learning</a:t>
            </a:r>
            <a:br>
              <a:rPr lang="en-GB" dirty="0"/>
            </a:br>
            <a:endParaRPr lang="en-GB" dirty="0"/>
          </a:p>
          <a:p>
            <a:pPr marL="342000" lvl="1" indent="-342000">
              <a:spcAft>
                <a:spcPts val="650"/>
              </a:spcAft>
              <a:buSzPct val="115000"/>
            </a:pPr>
            <a:r>
              <a:rPr lang="en-GB" dirty="0"/>
              <a:t>Revised the </a:t>
            </a:r>
            <a:r>
              <a:rPr lang="en-GB" b="1" dirty="0"/>
              <a:t>CSS </a:t>
            </a:r>
            <a:r>
              <a:rPr lang="en-GB" dirty="0"/>
              <a:t>you learned on the pre-learning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1879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72EF77C6-3C52-5A57-1F54-4DAEE525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</p:spPr>
        <p:txBody>
          <a:bodyPr/>
          <a:lstStyle/>
          <a:p>
            <a:r>
              <a:rPr lang="en-GB" dirty="0"/>
              <a:t>CSS – Put your code in a separate style file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3B8A23-4827-74D9-E8BE-21DE025E0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</p:spPr>
        <p:txBody>
          <a:bodyPr/>
          <a:lstStyle/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25534D-2ED8-F214-E166-FE5CAE18BDEE}"/>
              </a:ext>
            </a:extLst>
          </p:cNvPr>
          <p:cNvSpPr txBox="1"/>
          <p:nvPr/>
        </p:nvSpPr>
        <p:spPr>
          <a:xfrm>
            <a:off x="629920" y="1582341"/>
            <a:ext cx="6096000" cy="32932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.</a:t>
            </a:r>
            <a:r>
              <a:rPr lang="en-GB" sz="1600" dirty="0" err="1">
                <a:solidFill>
                  <a:srgbClr val="800000"/>
                </a:solidFill>
                <a:latin typeface="Consolas" panose="020B0609020204030204" pitchFamily="49" charset="0"/>
              </a:rPr>
              <a:t>qaClass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lightblue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font-size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x-large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#qaCourse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yellow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1px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solid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green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110FD8-E587-62BB-D928-29F6FDA9AA0E}"/>
              </a:ext>
            </a:extLst>
          </p:cNvPr>
          <p:cNvSpPr/>
          <p:nvPr/>
        </p:nvSpPr>
        <p:spPr>
          <a:xfrm>
            <a:off x="5242560" y="1422400"/>
            <a:ext cx="1310640" cy="3556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qaStyle.css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245251-4C4F-C69C-55DA-5813F467166B}"/>
              </a:ext>
            </a:extLst>
          </p:cNvPr>
          <p:cNvSpPr txBox="1"/>
          <p:nvPr/>
        </p:nvSpPr>
        <p:spPr>
          <a:xfrm>
            <a:off x="5161280" y="2275344"/>
            <a:ext cx="6207760" cy="4216539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meta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charset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="utf-8"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QA Training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link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="qaStyle.css"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rel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="stylesheet"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qaClass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QA Training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qaCourse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Web Development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Trainer: Bob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Students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ol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Steve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Linda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Russell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ol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F3EBA3A0-562D-A7F3-00F0-CB556678DFD4}"/>
              </a:ext>
            </a:extLst>
          </p:cNvPr>
          <p:cNvSpPr/>
          <p:nvPr/>
        </p:nvSpPr>
        <p:spPr>
          <a:xfrm>
            <a:off x="10373359" y="2703385"/>
            <a:ext cx="1484429" cy="491380"/>
          </a:xfrm>
          <a:prstGeom prst="wedgeRoundRectCallout">
            <a:avLst>
              <a:gd name="adj1" fmla="val -63919"/>
              <a:gd name="adj2" fmla="val 46756"/>
              <a:gd name="adj3" fmla="val 16667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Include style from a file</a:t>
            </a:r>
            <a:endParaRPr lang="en-GB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647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During your pre-learning, you may have used the Cloud Academy HTML/CSS editor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This has some restriction</a:t>
            </a:r>
            <a:r>
              <a:rPr lang="en-GB" dirty="0"/>
              <a:t>s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The biggest restrictions are that it only allows you to work on one page; and the page can only be shown as part of the editor</a:t>
            </a:r>
          </a:p>
          <a:p>
            <a:pPr lvl="1"/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this lab, you will: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Learn that HTML files are simply plain text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Learn that using an IDE can simplify the task of writing HTML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Move your pre-learning into Visual Studio Code, which is an IDE that supports many languages including HTML/CSS</a:t>
            </a:r>
          </a:p>
          <a:p>
            <a:pPr marL="684000" lvl="1" indent="-342000">
              <a:buSzPct val="115000"/>
            </a:pPr>
            <a:endParaRPr lang="en-GB" dirty="0"/>
          </a:p>
          <a:p>
            <a:pPr marL="684000" lvl="1" indent="0">
              <a:buSzPct val="115000"/>
              <a:buNone/>
            </a:pPr>
            <a:r>
              <a:rPr lang="en-GB" b="1" dirty="0"/>
              <a:t>Chapter 1 - HTML and CSS Revision.docx</a:t>
            </a:r>
          </a:p>
          <a:p>
            <a:pPr marL="684000" lvl="1" indent="-342000">
              <a:buSzPct val="115000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3725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7F8AF7-06BF-3355-4259-7EFDE8717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CA6EF1-61F4-D547-787D-93AF80A0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 padding, margin and display style – Another example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92B1B-95E6-8DBD-0D2E-1587EB1AA62C}"/>
              </a:ext>
            </a:extLst>
          </p:cNvPr>
          <p:cNvSpPr txBox="1"/>
          <p:nvPr/>
        </p:nvSpPr>
        <p:spPr>
          <a:xfrm>
            <a:off x="315827" y="1225797"/>
            <a:ext cx="4833688" cy="2677656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.box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background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#f5f5f5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1px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solid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#ccc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margin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20px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GB" sz="1400" dirty="0">
                <a:solidFill>
                  <a:srgbClr val="006400"/>
                </a:solidFill>
                <a:latin typeface="Consolas" panose="020B0609020204030204" pitchFamily="49" charset="0"/>
              </a:rPr>
              <a:t>/*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6400"/>
                </a:solidFill>
                <a:latin typeface="Consolas" panose="020B0609020204030204" pitchFamily="49" charset="0"/>
              </a:rPr>
              <a:t>space outside the box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6400"/>
                </a:solidFill>
                <a:latin typeface="Consolas" panose="020B0609020204030204" pitchFamily="49" charset="0"/>
              </a:rPr>
              <a:t>*/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padding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15px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  <a:r>
              <a:rPr lang="en-GB" sz="1400" dirty="0">
                <a:solidFill>
                  <a:srgbClr val="006400"/>
                </a:solidFill>
                <a:latin typeface="Consolas" panose="020B0609020204030204" pitchFamily="49" charset="0"/>
              </a:rPr>
              <a:t>/*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6400"/>
                </a:solidFill>
                <a:latin typeface="Consolas" panose="020B0609020204030204" pitchFamily="49" charset="0"/>
              </a:rPr>
              <a:t>space inside the box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6400"/>
                </a:solidFill>
                <a:latin typeface="Consolas" panose="020B0609020204030204" pitchFamily="49" charset="0"/>
              </a:rPr>
              <a:t>*/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.inline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inline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background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#ffe5d9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margin-right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10px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padding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5px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FB0AB5-6DAD-B344-99E4-66C27C12C44D}"/>
              </a:ext>
            </a:extLst>
          </p:cNvPr>
          <p:cNvSpPr txBox="1"/>
          <p:nvPr/>
        </p:nvSpPr>
        <p:spPr>
          <a:xfrm>
            <a:off x="5252727" y="1212340"/>
            <a:ext cx="3049061" cy="138499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.block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block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background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#d1e7dd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margin-bottom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10px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padding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10px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E502EC-61F5-F214-BAD0-D4C718A1DCA3}"/>
              </a:ext>
            </a:extLst>
          </p:cNvPr>
          <p:cNvSpPr txBox="1"/>
          <p:nvPr/>
        </p:nvSpPr>
        <p:spPr>
          <a:xfrm>
            <a:off x="262355" y="3996279"/>
            <a:ext cx="7377698" cy="2677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="box"&gt;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Box with margin &amp; padding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This box has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code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margin: 20px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code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and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code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padding: 15px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code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="box"&gt;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="block"&gt;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Block (takes full width)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="inline"&gt;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Inline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="inline"&gt;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Inline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="inline-block"&gt;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Inline-Block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="inline-block"&gt;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Inline-Block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A9A12E-93BD-65A9-DF1A-73C3E96D0F5F}"/>
              </a:ext>
            </a:extLst>
          </p:cNvPr>
          <p:cNvSpPr txBox="1"/>
          <p:nvPr/>
        </p:nvSpPr>
        <p:spPr>
          <a:xfrm>
            <a:off x="8466184" y="1225797"/>
            <a:ext cx="3259256" cy="203132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.inline-block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inline-block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background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#cfe2f3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100px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50px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margin-right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10px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padding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8px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vertical-align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top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58C099D-F5CC-9E34-2B0E-26B51F9F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419" y="3545568"/>
            <a:ext cx="4078370" cy="30221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Oval 4">
            <a:hlinkClick r:id="rId3" action="ppaction://hlinkfile"/>
            <a:extLst>
              <a:ext uri="{FF2B5EF4-FFF2-40B4-BE49-F238E27FC236}">
                <a16:creationId xmlns:a16="http://schemas.microsoft.com/office/drawing/2014/main" id="{4AF62FF1-2ED7-FADD-CD0F-5F81EF1FD8FA}"/>
              </a:ext>
            </a:extLst>
          </p:cNvPr>
          <p:cNvSpPr/>
          <p:nvPr/>
        </p:nvSpPr>
        <p:spPr>
          <a:xfrm>
            <a:off x="6089668" y="3257122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9349012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>
        <TermInfo xmlns="http://schemas.microsoft.com/office/infopath/2007/PartnerControls">
          <TermName xmlns="http://schemas.microsoft.com/office/infopath/2007/PartnerControls">IK</TermName>
          <TermId xmlns="http://schemas.microsoft.com/office/infopath/2007/PartnerControls">5abe6401-e87a-4499-80b4-3d21a1a6ebd7</TermId>
        </TermInfo>
      </Terms>
    </BookTypeField0>
    <IsBuildFile xmlns="B42EA499-AA80-4ED5-9ED5-37A17D3EB549" xsi:nil="true"/>
    <SequenceNumber xmlns="B42EA499-AA80-4ED5-9ED5-37A17D3EB54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EC94F4-4A12-4CBE-88D0-D83683647547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B42EA499-AA80-4ED5-9ED5-37A17D3EB549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6C9D03F-9495-4B67-824A-62063EE68A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0B072D-41B9-49A6-AB49-C984E780EE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3274</Words>
  <Application>Microsoft Office PowerPoint</Application>
  <PresentationFormat>Widescreen</PresentationFormat>
  <Paragraphs>595</Paragraphs>
  <Slides>26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Consolas</vt:lpstr>
      <vt:lpstr>Krana Fat B</vt:lpstr>
      <vt:lpstr>Lato</vt:lpstr>
      <vt:lpstr>Montserrat</vt:lpstr>
      <vt:lpstr>Verdana</vt:lpstr>
      <vt:lpstr>Master</vt:lpstr>
      <vt:lpstr>Web Fundamentals </vt:lpstr>
      <vt:lpstr>HTML and CSS Revision</vt:lpstr>
      <vt:lpstr>PowerPoint Presentation</vt:lpstr>
      <vt:lpstr>HTML Tags</vt:lpstr>
      <vt:lpstr>HTML5 page  (Hypertext Markup Language)</vt:lpstr>
      <vt:lpstr>Revision: Tags for displaying data</vt:lpstr>
      <vt:lpstr>Basic formatting</vt:lpstr>
      <vt:lpstr>Displaying images – Using relative and absolute path </vt:lpstr>
      <vt:lpstr>Hyperlink</vt:lpstr>
      <vt:lpstr>Lists</vt:lpstr>
      <vt:lpstr>Table – For displaying data and basic positioning</vt:lpstr>
      <vt:lpstr>Controls for inputting and selecting data</vt:lpstr>
      <vt:lpstr>PowerPoint Presentation</vt:lpstr>
      <vt:lpstr>CSS Selectors – A few examples</vt:lpstr>
      <vt:lpstr>CSS Selectors – A few examples</vt:lpstr>
      <vt:lpstr>Change font colour, size, style and background colour</vt:lpstr>
      <vt:lpstr>margin and padding properties</vt:lpstr>
      <vt:lpstr>Text, font CSS properties</vt:lpstr>
      <vt:lpstr>CSS - positioning elements</vt:lpstr>
      <vt:lpstr>Float and clear properties</vt:lpstr>
      <vt:lpstr>Float and clear – more example</vt:lpstr>
      <vt:lpstr>Position elements</vt:lpstr>
      <vt:lpstr>PowerPoint Presentation</vt:lpstr>
      <vt:lpstr>CSS – Put your code in a separate style file </vt:lpstr>
      <vt:lpstr>Lab</vt:lpstr>
      <vt:lpstr>Set padding, margin and display style – Another example  </vt:lpstr>
    </vt:vector>
  </TitlesOfParts>
  <Manager/>
  <Company>QA Ltd</Company>
  <LinksUpToDate>false</LinksUpToDate>
  <SharedDoc>false</SharedDoc>
  <HyperlinkBase>http://localhost:5055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168</cp:revision>
  <cp:lastPrinted>2019-07-03T09:46:41Z</cp:lastPrinted>
  <dcterms:created xsi:type="dcterms:W3CDTF">2019-09-05T08:17:12Z</dcterms:created>
  <dcterms:modified xsi:type="dcterms:W3CDTF">2025-10-19T11:11:12Z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  <property fmtid="{D5CDD505-2E9C-101B-9397-08002B2CF9AE}" pid="3" name="BookType">
    <vt:lpwstr>4</vt:lpwstr>
  </property>
</Properties>
</file>